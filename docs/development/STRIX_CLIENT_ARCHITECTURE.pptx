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3" autoAdjust="0"/>
    <p:restoredTop sz="94711" autoAdjust="0"/>
  </p:normalViewPr>
  <p:slideViewPr>
    <p:cSldViewPr snapToGrid="0" snapToObjects="1">
      <p:cViewPr varScale="1">
        <p:scale>
          <a:sx n="84" d="100"/>
          <a:sy n="84" d="100"/>
        </p:scale>
        <p:origin x="127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?>
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20" Type="http://schemas.openxmlformats.org/officeDocument/2006/relationships/viewProps" Target="viewProps.xml" /><Relationship Id="rId19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2" Type="http://schemas.openxmlformats.org/officeDocument/2006/relationships/tableStyles" Target="tableStyles.xml" /><Relationship Id="rId21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4/5/2019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marL="0" indent="0">
              <a:buNone/>
            </a:pPr>
            <a:r>
              <a:rPr/>
              <a:t>Strix</a:t>
            </a:r>
            <a:r>
              <a:rPr/>
              <a:t> </a:t>
            </a:r>
            <a:r>
              <a:rPr/>
              <a:t>AI/ML</a:t>
            </a:r>
            <a:r>
              <a:rPr/>
              <a:t> </a:t>
            </a:r>
            <a:r>
              <a:rPr/>
              <a:t>Integration</a:t>
            </a:r>
            <a:r>
              <a:rPr/>
              <a:t> </a:t>
            </a:r>
            <a:r>
              <a:rPr/>
              <a:t>-</a:t>
            </a:r>
            <a:r>
              <a:rPr/>
              <a:t> </a:t>
            </a:r>
            <a:r>
              <a:rPr/>
              <a:t>Architecture</a:t>
            </a:r>
            <a:r>
              <a:rPr/>
              <a:t> </a:t>
            </a:r>
            <a:r>
              <a:rPr/>
              <a:t>&amp;</a:t>
            </a:r>
            <a:r>
              <a:rPr/>
              <a:t> </a:t>
            </a:r>
            <a:r>
              <a:rPr/>
              <a:t>Integration</a:t>
            </a:r>
            <a:r>
              <a:rPr/>
              <a:t> </a:t>
            </a:r>
            <a:r>
              <a:rPr/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Client Presentation Document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Executive Summary</a:t>
            </a:r>
          </a:p>
          <a:p>
            <a:pPr lvl="0" marL="0" indent="0">
              <a:buNone/>
            </a:pPr>
            <a:r>
              <a:rPr/>
              <a:t>This document outlines the architecture and integration of </a:t>
            </a:r>
            <a:r>
              <a:rPr b="1"/>
              <a:t>AMD Strix (Strix Point gfx1150 and Strix Halo gfx1151)</a:t>
            </a:r>
            <a:r>
              <a:rPr/>
              <a:t> AI/ML testing framework within TheRock repository. The solution provides comprehensive validation of Edge AI and Windows Copilot+ workloads on Strix integrated GPUs (iGPUs).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Key Achievements</a:t>
            </a:r>
          </a:p>
          <a:p>
            <a:pPr lvl="1"/>
            <a:r>
              <a:rPr/>
              <a:t>✅ </a:t>
            </a:r>
            <a:r>
              <a:rPr b="1"/>
              <a:t>ROCm-accelerated AI/ML testing</a:t>
            </a:r>
            <a:r>
              <a:rPr/>
              <a:t> on Strix iGPUs</a:t>
            </a:r>
          </a:p>
          <a:p>
            <a:pPr lvl="1"/>
            <a:r>
              <a:rPr/>
              <a:t>✅ </a:t>
            </a:r>
            <a:r>
              <a:rPr b="1"/>
              <a:t>Automated CI/CD pipeline</a:t>
            </a:r>
            <a:r>
              <a:rPr/>
              <a:t> with GitHub Actions</a:t>
            </a:r>
          </a:p>
          <a:p>
            <a:pPr lvl="1"/>
            <a:r>
              <a:rPr/>
              <a:t>✅ </a:t>
            </a:r>
            <a:r>
              <a:rPr b="1"/>
              <a:t>Comprehensive test coverage</a:t>
            </a:r>
            <a:r>
              <a:rPr/>
              <a:t>: VLM, VLA, ViT, CV, Optimization</a:t>
            </a:r>
          </a:p>
          <a:p>
            <a:pPr lvl="1"/>
            <a:r>
              <a:rPr/>
              <a:t>✅ </a:t>
            </a:r>
            <a:r>
              <a:rPr b="1"/>
              <a:t>Performance metrics capture</a:t>
            </a:r>
            <a:r>
              <a:rPr/>
              <a:t> in JUnit XML format</a:t>
            </a:r>
          </a:p>
          <a:p>
            <a:pPr lvl="1"/>
            <a:r>
              <a:rPr/>
              <a:t>✅ </a:t>
            </a:r>
            <a:r>
              <a:rPr b="1"/>
              <a:t>Zero-download results</a:t>
            </a:r>
            <a:r>
              <a:rPr/>
              <a:t> - All metrics visible in GitHub Actions logs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1. Architecture Overview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1.1 System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┌─────────────────────────────────────────────────────────────────┐
│                    TheRock Repository                            │
├─────────────────────────────────────────────────────────────────┤
│                                                                   │
│  ┌────────────────────────────────────────────────────────┐    │
│  │            Strix AI/ML Test Framework                  │    │
│  │                                                         │    │
│  │  ┌──────────┐  ┌──────────┐  ┌──────────┐  ┌────────┐│    │
│  │  │   VLM    │  │   VLA    │  │   ViT    │  │   CV   ││    │
│  │  │  Tests   │  │  Tests   │  │  Tests   │  │ Tests  ││    │
│  │  └──────────┘  └──────────┘  └──────────┘  └────────┘│    │
│  │                                                         │    │
│  │  ┌──────────────────┐  ┌─────────────────────────┐   │    │
│  │  │  Optimization    │  │    Quick Smoke Tests    │   │    │
│  │  │     Tests        │  │                         │   │    │
│  │  └──────────────────┘  └─────────────────────────┘   │    │
│  └────────────────────────────────────────────────────────┘    │
│                                 ▼                                │
│  ┌────────────────────────────────────────────────────────┐    │
│  │           GitHub Actions CI/CD Pipeline                │    │
│  │                                                         │    │
│  │  ┌─────────────────────────────────────────────────┐  │    │
│  │  │  rocm/pytorch:latest Container                  │  │    │
│  │  │  - ROCm 6.x Runtime                             │  │    │
│  │  │  - PyTorch with ROCm Backend                    │  │    │
│  │  │  - AI/ML Libraries (transformers, ultralytics)  │  │    │
│  │  └─────────────────────────────────────────────────┘  │    │
│  └────────────────────────────────────────────────────────┘    │
│                                 ▼                                │
│  ┌────────────────────────────────────────────────────────┐    │
│  │        Strix Hardware (Self-Hosted Runners)            │    │
│  │                                                         │    │
│  │  ┌──────────────────┐      ┌───────────────────┐     │    │
│  │  │  Strix Point     │      │   Strix Halo      │     │    │
│  │  │  (gfx1150)       │      │   (gfx1151)       │     │    │
│  │  │  RDNA 3.5 iGPU   │      │   RDNA 3.5 iGPU   │     │    │
│  │  └──────────────────┘      └───────────────────┘     │    │
│  └────────────────────────────────────────────────────────┘    │
│                                 ▼                                │
│  ┌────────────────────────────────────────────────────────┐    │
│  │           Test Results &amp; Metrics                       │    │
│  │  - JUnit XML with custom properties                    │    │
│  │  - Performance metrics (FPS, latency, memory)          │    │
│  │  - Displayed directly in GitHub Actions logs           │    │
│  └────────────────────────────────────────────────────────┘    │
│                                                                   │
└─────────────────────────────────────────────────────────────────┘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1.2 Component Architecture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Layer 1: Test Categories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Purpose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Models</a:t>
                      </a:r>
                      <a:r>
                        <a:rPr/>
                        <a:t> </a:t>
                      </a:r>
                      <a:r>
                        <a:rPr/>
                        <a:t>Tested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VLM</a:t>
                      </a:r>
                      <a:r>
                        <a:rPr/>
                        <a:t> </a:t>
                      </a:r>
                      <a:r>
                        <a:rPr/>
                        <a:t>(Vision</a:t>
                      </a:r>
                      <a:r>
                        <a:rPr/>
                        <a:t> </a:t>
                      </a:r>
                      <a:r>
                        <a:rPr/>
                        <a:t>Language</a:t>
                      </a:r>
                      <a:r>
                        <a:rPr/>
                        <a:t> </a:t>
                      </a:r>
                      <a:r>
                        <a:rPr/>
                        <a:t>Models)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Text-image</a:t>
                      </a:r>
                      <a:r>
                        <a:rPr/>
                        <a:t> </a:t>
                      </a:r>
                      <a:r>
                        <a:rPr/>
                        <a:t>understanding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CLIP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VLA</a:t>
                      </a:r>
                      <a:r>
                        <a:rPr/>
                        <a:t> </a:t>
                      </a:r>
                      <a:r>
                        <a:rPr/>
                        <a:t>(Vision</a:t>
                      </a:r>
                      <a:r>
                        <a:rPr/>
                        <a:t> </a:t>
                      </a:r>
                      <a:r>
                        <a:rPr/>
                        <a:t>Language</a:t>
                      </a:r>
                      <a:r>
                        <a:rPr/>
                        <a:t> </a:t>
                      </a:r>
                      <a:r>
                        <a:rPr/>
                        <a:t>Action)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Action</a:t>
                      </a:r>
                      <a:r>
                        <a:rPr/>
                        <a:t> </a:t>
                      </a:r>
                      <a:r>
                        <a:rPr/>
                        <a:t>prediction</a:t>
                      </a:r>
                      <a:r>
                        <a:rPr/>
                        <a:t> </a:t>
                      </a:r>
                      <a:r>
                        <a:rPr/>
                        <a:t>from</a:t>
                      </a:r>
                      <a:r>
                        <a:rPr/>
                        <a:t> </a:t>
                      </a:r>
                      <a:r>
                        <a:rPr/>
                        <a:t>vision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OWL-ViT,</a:t>
                      </a:r>
                      <a:r>
                        <a:rPr/>
                        <a:t> </a:t>
                      </a:r>
                      <a:r>
                        <a:rPr/>
                        <a:t>RT-style</a:t>
                      </a:r>
                      <a:r>
                        <a:rPr/>
                        <a:t> </a:t>
                      </a:r>
                      <a:r>
                        <a:rPr/>
                        <a:t>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ViT</a:t>
                      </a:r>
                      <a:r>
                        <a:rPr/>
                        <a:t> </a:t>
                      </a:r>
                      <a:r>
                        <a:rPr/>
                        <a:t>(Vision</a:t>
                      </a:r>
                      <a:r>
                        <a:rPr/>
                        <a:t> </a:t>
                      </a:r>
                      <a:r>
                        <a:rPr/>
                        <a:t>Transformers)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Image</a:t>
                      </a:r>
                      <a:r>
                        <a:rPr/>
                        <a:t> </a:t>
                      </a:r>
                      <a:r>
                        <a:rPr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ViT-Base,</a:t>
                      </a:r>
                      <a:r>
                        <a:rPr/>
                        <a:t> </a:t>
                      </a:r>
                      <a:r>
                        <a:rPr/>
                        <a:t>DINOv2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CV</a:t>
                      </a:r>
                      <a:r>
                        <a:rPr/>
                        <a:t> </a:t>
                      </a:r>
                      <a:r>
                        <a:rPr/>
                        <a:t>(Computer</a:t>
                      </a:r>
                      <a:r>
                        <a:rPr/>
                        <a:t> </a:t>
                      </a:r>
                      <a:r>
                        <a:rPr/>
                        <a:t>Vision)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Object</a:t>
                      </a:r>
                      <a:r>
                        <a:rPr/>
                        <a:t> </a:t>
                      </a:r>
                      <a:r>
                        <a:rPr/>
                        <a:t>detection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YOLOv8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Optimization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FP16/INT8</a:t>
                      </a:r>
                      <a:r>
                        <a:rPr/>
                        <a:t> </a:t>
                      </a:r>
                      <a:r>
                        <a:rPr/>
                        <a:t>quantization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Quantized</a:t>
                      </a:r>
                      <a:r>
                        <a:rPr/>
                        <a:t> </a:t>
                      </a:r>
                      <a:r>
                        <a:rPr/>
                        <a:t>models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Quick</a:t>
                      </a:r>
                      <a:r>
                        <a:rPr b="1"/>
                        <a:t> </a:t>
                      </a:r>
                      <a:r>
                        <a:rPr b="1"/>
                        <a:t>Smoke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Fast</a:t>
                      </a:r>
                      <a:r>
                        <a:rPr/>
                        <a:t> </a:t>
                      </a:r>
                      <a:r>
                        <a:rPr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Simple</a:t>
                      </a:r>
                      <a:r>
                        <a:rPr/>
                        <a:t> </a:t>
                      </a:r>
                      <a:r>
                        <a:rPr/>
                        <a:t>tests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Layer 2: Container Infrastructure</a:t>
            </a:r>
          </a:p>
          <a:p>
            <a:pPr lvl="0" indent="0">
              <a:buNone/>
            </a:pPr>
            <a:r>
              <a:rPr>
                <a:latin typeface="Courier"/>
              </a:rPr>
              <a:t>rocm/pytorch:latest
├── ROCm Runtime 6.x
├── PyTorch 2.x+rocm6.x (GPU-enabled)
├── torchvision
├── transformers (Hugging Face)
├── ultralytics (YOLO)
├── opencv-python
└── pytest framework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Layer 3: Hardware Layer</a:t>
            </a:r>
          </a:p>
          <a:p>
            <a:pPr lvl="0" indent="0">
              <a:buNone/>
            </a:pPr>
            <a:r>
              <a:rPr>
                <a:latin typeface="Courier"/>
              </a:rPr>
              <a:t>AMD Strix Platforms
├── Strix Point (gfx1150)
│   ├── RDNA 3.5 iGPU
│   ├── Edge AI workloads
│   └── Windows Copilot+ scenarios
│
└── Strix Halo (gfx1151)
    ├── RDNA 3.5 iGPU (higher CU count)
    ├── Premium Edge AI
    └── Enhanced Copilot+ performance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2. Integration Approach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2.1 Integration Points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A. Repository Integration</a:t>
            </a:r>
          </a:p>
          <a:p>
            <a:pPr lvl="0" indent="0">
              <a:buNone/>
            </a:pPr>
            <a:r>
              <a:rPr>
                <a:latin typeface="Courier"/>
              </a:rPr>
              <a:t>TheRock/
├── tests/strix_ai/          # Strix-specific AI/ML tests
│   ├── conftest.py          # Shared fixtures (GPU detection, images)
│   ├── vlm/                 # Vision Language Model tests
│   │   └── test_clip.py
│   ├── vla/                 # Vision Language Action tests
│   │   └── test_action_prediction.py
│   ├── vit/                 # Vision Transformer tests
│   │   └── test_vit_base.py
│   ├── cv/                  # Computer Vision tests
│   │   └── test_yolo.py
│   └── optimization/        # Optimization tests
│       └── test_quantization.py
│
├── .github/workflows/
│   ├── strix_ai_tests.yml       # Main workflow (comprehensive)
│   └── strix_ai_quick_test.yml  # Quick validation workflow
│
└── docs/development/
    ├── STRIX_AI_ML_TEST_PLAN.md
    ├── STRIX_AI_QUICK_START.md
    ├── STRIX_TESTING_GUIDE.md
    └── STRIX_CLIENT_ARCHITECTURE.md (this file)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B. CI/CD Integration</a:t>
            </a:r>
          </a:p>
          <a:p>
            <a:pPr lvl="0" marL="0" indent="0">
              <a:buNone/>
            </a:pPr>
            <a:r>
              <a:rPr b="1"/>
              <a:t>Workflow Triggers:</a:t>
            </a:r>
            <a:r>
              <a:rPr/>
              <a:t> - ✅ </a:t>
            </a:r>
            <a:r>
              <a:rPr b="1"/>
              <a:t>Automatic</a:t>
            </a:r>
            <a:r>
              <a:rPr/>
              <a:t>: Push/PR to </a:t>
            </a:r>
            <a:r>
              <a:rPr>
                <a:latin typeface="Courier"/>
              </a:rPr>
              <a:t>users/*/strix_*</a:t>
            </a:r>
            <a:r>
              <a:rPr/>
              <a:t>, </a:t>
            </a:r>
            <a:r>
              <a:rPr>
                <a:latin typeface="Courier"/>
              </a:rPr>
              <a:t>main</a:t>
            </a:r>
            <a:r>
              <a:rPr/>
              <a:t>, </a:t>
            </a:r>
            <a:r>
              <a:rPr>
                <a:latin typeface="Courier"/>
              </a:rPr>
              <a:t>develop</a:t>
            </a:r>
            <a:r>
              <a:rPr/>
              <a:t> branches - ✅ </a:t>
            </a:r>
            <a:r>
              <a:rPr b="1"/>
              <a:t>Path-filtered</a:t>
            </a:r>
            <a:r>
              <a:rPr/>
              <a:t>: Only triggers when Strix test files change - ✅ </a:t>
            </a:r>
            <a:r>
              <a:rPr b="1"/>
              <a:t>Manual</a:t>
            </a:r>
            <a:r>
              <a:rPr/>
              <a:t>: </a:t>
            </a:r>
            <a:r>
              <a:rPr>
                <a:latin typeface="Courier"/>
              </a:rPr>
              <a:t>workflow_dispatch</a:t>
            </a:r>
            <a:r>
              <a:rPr/>
              <a:t> with custom parameters</a:t>
            </a:r>
          </a:p>
          <a:p>
            <a:pPr lvl="0" marL="0" indent="0">
              <a:buNone/>
            </a:pPr>
            <a:r>
              <a:rPr b="1"/>
              <a:t>Workflow Features: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Triggers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push (filtered by paths)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pull_request (filtered by paths)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on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workflow_dispatch (manual with inputs)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Container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Image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rocm/pytorch:latest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GPU Access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--device /dev/kfd --device /dev/dri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IPC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host mode for shared memory</a:t>
            </a:r>
            <a:br/>
            <a:br/>
            <a:r>
              <a:rPr>
                <a:solidFill>
                  <a:srgbClr val="06287E"/>
                </a:solidFill>
                <a:latin typeface="Courier"/>
              </a:rPr>
              <a:t>Runners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linux-strix-halo-gpu-rocm (gfx1151)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linux-strix-point-gpu-rocm (gfx1150)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windows-strix-halo-gpu-rocm (Windows Copilot+)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2.2 Hardware Integration Strategy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Phase 1: Container-Based Testing ✅ COMPLETED</a:t>
            </a:r>
          </a:p>
          <a:p>
            <a:pPr lvl="1"/>
            <a:r>
              <a:rPr/>
              <a:t>Use official ROCm PyTorch containers</a:t>
            </a:r>
          </a:p>
          <a:p>
            <a:pPr lvl="1"/>
            <a:r>
              <a:rPr/>
              <a:t>GPU passthrough via Docker</a:t>
            </a:r>
          </a:p>
          <a:p>
            <a:pPr lvl="1"/>
            <a:r>
              <a:rPr/>
              <a:t>Minimal host dependencies</a:t>
            </a:r>
          </a:p>
          <a:p>
            <a:pPr lvl="1"/>
            <a:r>
              <a:rPr b="1"/>
              <a:t>Advantage</a:t>
            </a:r>
            <a:r>
              <a:rPr/>
              <a:t>: Reproducible, portable, fast setup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Phase 2: Direct Hardware Testing (Future)</a:t>
            </a:r>
          </a:p>
          <a:p>
            <a:pPr lvl="1"/>
            <a:r>
              <a:rPr/>
              <a:t>Native ROCm installation on runner host</a:t>
            </a:r>
          </a:p>
          <a:p>
            <a:pPr lvl="1"/>
            <a:r>
              <a:rPr/>
              <a:t>Direct GPU access without containers</a:t>
            </a:r>
          </a:p>
          <a:p>
            <a:pPr lvl="1"/>
            <a:r>
              <a:rPr/>
              <a:t>Windows-specific testing (DirectML, WinML)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Phase 3: Heterogeneous Testing (Future)</a:t>
            </a:r>
          </a:p>
          <a:p>
            <a:pPr lvl="1"/>
            <a:r>
              <a:rPr/>
              <a:t>Multi-GPU testing</a:t>
            </a:r>
          </a:p>
          <a:p>
            <a:pPr lvl="1"/>
            <a:r>
              <a:rPr/>
              <a:t>CPU+GPU hybrid workloads</a:t>
            </a:r>
          </a:p>
          <a:p>
            <a:pPr lvl="1"/>
            <a:r>
              <a:rPr/>
              <a:t>Power efficiency benchmarks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3. Technical Implementation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3.1 GPU Detection and Validation</a:t>
            </a:r>
          </a:p>
          <a:p>
            <a:pPr lvl="0" marL="0" indent="0">
              <a:buNone/>
            </a:pPr>
            <a:r>
              <a:rPr b="1"/>
              <a:t>Automatic Detection: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conftest.py - Shared fixture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@pytest.fixture</a:t>
            </a:r>
            <a:r>
              <a:rPr>
                <a:latin typeface="Courier"/>
              </a:rPr>
              <a:t>(scope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4070A0"/>
                </a:solidFill>
                <a:latin typeface="Courier"/>
              </a:rPr>
              <a:t>"session"</a:t>
            </a:r>
            <a:r>
              <a:rPr>
                <a:latin typeface="Courier"/>
              </a:rPr>
              <a:t>)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strix_device():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"""Automatically detects and validates Strix GPU"""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torch.cuda.is_available():</a:t>
            </a:r>
            <a:br/>
            <a:r>
              <a:rPr>
                <a:latin typeface="Courier"/>
              </a:rPr>
              <a:t>        pytest.skip(</a:t>
            </a:r>
            <a:r>
              <a:rPr>
                <a:solidFill>
                  <a:srgbClr val="4070A0"/>
                </a:solidFill>
                <a:latin typeface="Courier"/>
              </a:rPr>
              <a:t>"GPU not available"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Verify it's a Strix GPU</a:t>
            </a:r>
            <a:br/>
            <a:r>
              <a:rPr>
                <a:latin typeface="Courier"/>
              </a:rPr>
              <a:t>    amdgpu_family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os.getenv(</a:t>
            </a:r>
            <a:r>
              <a:rPr>
                <a:solidFill>
                  <a:srgbClr val="4070A0"/>
                </a:solidFill>
                <a:latin typeface="Courier"/>
              </a:rPr>
              <a:t>"AMDGPU_FAMILIES"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amdgpu_family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[</a:t>
            </a:r>
            <a:r>
              <a:rPr>
                <a:solidFill>
                  <a:srgbClr val="4070A0"/>
                </a:solidFill>
                <a:latin typeface="Courier"/>
              </a:rPr>
              <a:t>"gfx1150"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4070A0"/>
                </a:solidFill>
                <a:latin typeface="Courier"/>
              </a:rPr>
              <a:t>"gfx1151"</a:t>
            </a:r>
            <a:r>
              <a:rPr>
                <a:latin typeface="Courier"/>
              </a:rPr>
              <a:t>]:</a:t>
            </a:r>
            <a:br/>
            <a:r>
              <a:rPr>
                <a:latin typeface="Courier"/>
              </a:rPr>
              <a:t>        pytest.skip(</a:t>
            </a:r>
            <a:r>
              <a:rPr>
                <a:solidFill>
                  <a:srgbClr val="BB6688"/>
                </a:solidFill>
                <a:latin typeface="Courier"/>
              </a:rPr>
              <a:t>f"Not a Strix device: 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amdgpu_family</a:t>
            </a:r>
            <a:r>
              <a:rPr>
                <a:solidFill>
                  <a:srgbClr val="4070A0"/>
                </a:solidFill>
                <a:latin typeface="Courier"/>
              </a:rPr>
              <a:t>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torch.device(</a:t>
            </a:r>
            <a:r>
              <a:rPr>
                <a:solidFill>
                  <a:srgbClr val="4070A0"/>
                </a:solidFill>
                <a:latin typeface="Courier"/>
              </a:rPr>
              <a:t>"cuda"</a:t>
            </a:r>
            <a:r>
              <a:rPr>
                <a:latin typeface="Courier"/>
              </a:rPr>
              <a:t>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3.2 Metrics Capture</a:t>
            </a:r>
          </a:p>
          <a:p>
            <a:pPr lvl="0" marL="0" indent="0">
              <a:buNone/>
            </a:pPr>
            <a:r>
              <a:rPr b="1"/>
              <a:t>JUnit XML with Custom Properties: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&lt;testcase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"test_vit_throughput"</a:t>
            </a:r>
            <a:r>
              <a:rPr>
                <a:solidFill>
                  <a:srgbClr val="007020"/>
                </a:solidFill>
                <a:latin typeface="Courier"/>
              </a:rPr>
              <a:t> time=</a:t>
            </a:r>
            <a:r>
              <a:rPr>
                <a:solidFill>
                  <a:srgbClr val="4070A0"/>
                </a:solidFill>
                <a:latin typeface="Courier"/>
              </a:rPr>
              <a:t>"4.599"</a:t>
            </a:r>
            <a:r>
              <a:rPr b="1">
                <a:solidFill>
                  <a:srgbClr val="007020"/>
                </a:solidFill>
                <a:latin typeface="Courier"/>
              </a:rPr>
              <a:t>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&lt;properties&gt;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"metric_throughput_fps"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"28.59"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"metric_latency_ms"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"34.98"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"metric_iterations"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"100"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"gpu_family"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"gfx1151"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>
                <a:latin typeface="Courier"/>
              </a:rPr>
              <a:t>  </a:t>
            </a:r>
            <a:r>
              <a:rPr b="1">
                <a:solidFill>
                  <a:srgbClr val="007020"/>
                </a:solidFill>
                <a:latin typeface="Courier"/>
              </a:rPr>
              <a:t>&lt;/properties&gt;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&lt;/testcase&gt;</a:t>
            </a:r>
          </a:p>
          <a:p>
            <a:pPr lvl="0" marL="0" indent="0">
              <a:buNone/>
            </a:pPr>
            <a:r>
              <a:rPr b="1"/>
              <a:t>Test Implementation: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test_vit_throughput(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strix_device, record_property):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... benchmark code ...</a:t>
            </a:r>
            <a:br/>
            <a:r>
              <a:rPr>
                <a:latin typeface="Courier"/>
              </a:rPr>
              <a:t>    </a:t>
            </a:r>
            <a:br/>
            <a:r>
              <a:rPr>
                <a:latin typeface="Courier"/>
              </a:rPr>
              <a:t>    </a:t>
            </a:r>
            <a:r>
              <a:rPr i="1">
                <a:solidFill>
                  <a:srgbClr val="60A0B0"/>
                </a:solidFill>
                <a:latin typeface="Courier"/>
              </a:rPr>
              <a:t># Capture metrics</a:t>
            </a:r>
            <a:br/>
            <a:r>
              <a:rPr>
                <a:latin typeface="Courier"/>
              </a:rPr>
              <a:t>    record_property(</a:t>
            </a:r>
            <a:r>
              <a:rPr>
                <a:solidFill>
                  <a:srgbClr val="4070A0"/>
                </a:solidFill>
                <a:latin typeface="Courier"/>
              </a:rPr>
              <a:t>"metric_throughput_fps"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fps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record_property(</a:t>
            </a:r>
            <a:r>
              <a:rPr>
                <a:solidFill>
                  <a:srgbClr val="4070A0"/>
                </a:solidFill>
                <a:latin typeface="Courier"/>
              </a:rPr>
              <a:t>"metric_latency_ms"</a:t>
            </a:r>
            <a:r>
              <a:rPr>
                <a:latin typeface="Courier"/>
              </a:rPr>
              <a:t>, </a:t>
            </a:r>
            <a:r>
              <a:rPr>
                <a:solidFill>
                  <a:srgbClr val="BB6688"/>
                </a:solidFill>
                <a:latin typeface="Courier"/>
              </a:rPr>
              <a:t>f"</a:t>
            </a:r>
            <a:r>
              <a:rPr>
                <a:solidFill>
                  <a:srgbClr val="4070A0"/>
                </a:solidFill>
                <a:latin typeface="Courier"/>
              </a:rPr>
              <a:t>{</a:t>
            </a:r>
            <a:r>
              <a:rPr>
                <a:latin typeface="Courier"/>
              </a:rPr>
              <a:t>latency_ms</a:t>
            </a:r>
            <a:r>
              <a:rPr>
                <a:solidFill>
                  <a:srgbClr val="4070A0"/>
                </a:solidFill>
                <a:latin typeface="Courier"/>
              </a:rPr>
              <a:t>:.2f}</a:t>
            </a:r>
            <a:r>
              <a:rPr>
                <a:solidFill>
                  <a:srgbClr val="BB6688"/>
                </a:solidFill>
                <a:latin typeface="Courier"/>
              </a:rPr>
              <a:t>"</a:t>
            </a:r>
            <a:r>
              <a:rPr>
                <a:latin typeface="Courier"/>
              </a:rPr>
              <a:t>)</a:t>
            </a:r>
            <a:br/>
            <a:r>
              <a:rPr>
                <a:latin typeface="Courier"/>
              </a:rPr>
              <a:t>    record_property(</a:t>
            </a:r>
            <a:r>
              <a:rPr>
                <a:solidFill>
                  <a:srgbClr val="4070A0"/>
                </a:solidFill>
                <a:latin typeface="Courier"/>
              </a:rPr>
              <a:t>"gpu_family"</a:t>
            </a:r>
            <a:r>
              <a:rPr>
                <a:latin typeface="Courier"/>
              </a:rPr>
              <a:t>, AMDGPU_FAMILIES)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3.3 Results Display</a:t>
            </a:r>
          </a:p>
          <a:p>
            <a:pPr lvl="0" marL="0" indent="0">
              <a:buNone/>
            </a:pPr>
            <a:r>
              <a:rPr b="1"/>
              <a:t>Inline XML Display in GitHub Actions:</a:t>
            </a:r>
          </a:p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-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name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📊 Display Test Results XML</a:t>
            </a:r>
            <a:br/>
            <a:r>
              <a:rPr>
                <a:solidFill>
                  <a:srgbClr val="06287E"/>
                </a:solidFill>
                <a:latin typeface="Courier"/>
              </a:rPr>
              <a:t>  run</a:t>
            </a:r>
            <a:r>
              <a:rPr b="1">
                <a:solidFill>
                  <a:srgbClr val="007020"/>
                </a:solidFill>
                <a:latin typeface="Courier"/>
              </a:rPr>
              <a:t>: </a:t>
            </a:r>
            <a:r>
              <a:rPr>
                <a:solidFill>
                  <a:srgbClr val="4070A0"/>
                </a:solidFill>
                <a:latin typeface="Courier"/>
              </a:rPr>
              <a:t>|</a:t>
            </a:r>
            <a:br/>
            <a:r>
              <a:rPr>
                <a:latin typeface="Courier"/>
              </a:rPr>
              <a:t>    echo "::group::📄 test-results-vit.xml"</a:t>
            </a:r>
            <a:br/>
            <a:r>
              <a:rPr>
                <a:latin typeface="Courier"/>
              </a:rPr>
              <a:t>    cat test-results-vit.xml</a:t>
            </a:r>
            <a:br/>
            <a:r>
              <a:rPr>
                <a:latin typeface="Courier"/>
              </a:rPr>
              <a:t>    echo "::endgroup::"</a:t>
            </a:r>
          </a:p>
          <a:p>
            <a:pPr lvl="0" marL="0" indent="0">
              <a:buNone/>
            </a:pPr>
            <a:r>
              <a:rPr b="1"/>
              <a:t>Benefits:</a:t>
            </a:r>
            <a:r>
              <a:rPr/>
              <a:t> - ✅ No artifact download required - ✅ Immediate visibility in logs - ✅ Easy copy/paste for analysis - ✅ Historical tracking via artifacts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4. Test Coverage Matrix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600200"/>
          <a:ext cx="8229600" cy="452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38300"/>
                <a:gridCol w="1638300"/>
                <a:gridCol w="1638300"/>
                <a:gridCol w="1638300"/>
                <a:gridCol w="1638300"/>
              </a:tblGrid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Test</a:t>
                      </a:r>
                      <a:r>
                        <a:rPr/>
                        <a:t> </a:t>
                      </a:r>
                      <a:r>
                        <a:rPr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Models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Priority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Metrics</a:t>
                      </a:r>
                      <a:r>
                        <a:rPr/>
                        <a:t> </a:t>
                      </a:r>
                      <a:r>
                        <a:rPr/>
                        <a:t>Captured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VLM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CLIP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Implemented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Similarity</a:t>
                      </a:r>
                      <a:r>
                        <a:rPr/>
                        <a:t> </a:t>
                      </a:r>
                      <a:r>
                        <a:rPr/>
                        <a:t>scores,</a:t>
                      </a:r>
                      <a:r>
                        <a:rPr/>
                        <a:t> </a:t>
                      </a:r>
                      <a:r>
                        <a:rPr/>
                        <a:t>FPS,</a:t>
                      </a:r>
                      <a:r>
                        <a:rPr/>
                        <a:t> </a:t>
                      </a:r>
                      <a:r>
                        <a:rPr/>
                        <a:t>latency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VLA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OWL-ViT,</a:t>
                      </a:r>
                      <a:r>
                        <a:rPr/>
                        <a:t> </a:t>
                      </a:r>
                      <a:r>
                        <a:rPr/>
                        <a:t>Action</a:t>
                      </a:r>
                      <a:r>
                        <a:rPr/>
                        <a:t> </a:t>
                      </a:r>
                      <a:r>
                        <a:rPr/>
                        <a:t>Models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Implemented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Detection</a:t>
                      </a:r>
                      <a:r>
                        <a:rPr/>
                        <a:t> </a:t>
                      </a:r>
                      <a:r>
                        <a:rPr/>
                        <a:t>accuracy,</a:t>
                      </a:r>
                      <a:r>
                        <a:rPr/>
                        <a:t> </a:t>
                      </a:r>
                      <a:r>
                        <a:rPr/>
                        <a:t>latency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ViT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ViT-Base,</a:t>
                      </a:r>
                      <a:r>
                        <a:rPr/>
                        <a:t> </a:t>
                      </a:r>
                      <a:r>
                        <a:rPr/>
                        <a:t>DINOv2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Implemented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FPS,</a:t>
                      </a:r>
                      <a:r>
                        <a:rPr/>
                        <a:t> </a:t>
                      </a:r>
                      <a:r>
                        <a:rPr/>
                        <a:t>latency,</a:t>
                      </a:r>
                      <a:r>
                        <a:rPr/>
                        <a:t> </a:t>
                      </a:r>
                      <a:r>
                        <a:rPr/>
                        <a:t>memory,</a:t>
                      </a:r>
                      <a:r>
                        <a:rPr/>
                        <a:t> </a:t>
                      </a:r>
                      <a:r>
                        <a:rPr/>
                        <a:t>confidence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CV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YOLOv8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Implemented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Detection</a:t>
                      </a:r>
                      <a:r>
                        <a:rPr/>
                        <a:t> </a:t>
                      </a:r>
                      <a:r>
                        <a:rPr/>
                        <a:t>rate,</a:t>
                      </a:r>
                      <a:r>
                        <a:rPr/>
                        <a:t> </a:t>
                      </a:r>
                      <a:r>
                        <a:rPr/>
                        <a:t>FPS,</a:t>
                      </a:r>
                      <a:r>
                        <a:rPr/>
                        <a:t> </a:t>
                      </a:r>
                      <a:r>
                        <a:rPr/>
                        <a:t>accuracy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Optimization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FP16/INT8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P1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Implemented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Speedup,</a:t>
                      </a:r>
                      <a:r>
                        <a:rPr/>
                        <a:t> </a:t>
                      </a:r>
                      <a:r>
                        <a:rPr/>
                        <a:t>memory</a:t>
                      </a:r>
                      <a:r>
                        <a:rPr/>
                        <a:t> </a:t>
                      </a:r>
                      <a:r>
                        <a:rPr/>
                        <a:t>savings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 b="1"/>
                        <a:t>Quick</a:t>
                      </a:r>
                      <a:r>
                        <a:rPr b="1"/>
                        <a:t> </a:t>
                      </a:r>
                      <a:r>
                        <a:rPr b="1"/>
                        <a:t>Smoke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Basic</a:t>
                      </a:r>
                      <a:r>
                        <a:rPr/>
                        <a:t> </a:t>
                      </a:r>
                      <a:r>
                        <a:rPr/>
                        <a:t>validation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✅</a:t>
                      </a:r>
                      <a:r>
                        <a:rPr/>
                        <a:t> </a:t>
                      </a:r>
                      <a:r>
                        <a:rPr/>
                        <a:t>Implemented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marL="0" indent="0">
                        <a:buNone/>
                      </a:pPr>
                      <a:r>
                        <a:rPr/>
                        <a:t>Pass/fail</a:t>
                      </a:r>
                      <a:r>
                        <a:rPr/>
                        <a:t> </a:t>
                      </a:r>
                      <a:r>
                        <a:rPr/>
                        <a:t>status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5. Performance Metrics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5.1 Metrics Captured Per Test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Functional Tests:</a:t>
            </a:r>
          </a:p>
          <a:p>
            <a:pPr lvl="1"/>
            <a:r>
              <a:rPr b="1"/>
              <a:t>Inference Time</a:t>
            </a:r>
            <a:r>
              <a:rPr/>
              <a:t> - Single inference latency (ms)</a:t>
            </a:r>
          </a:p>
          <a:p>
            <a:pPr lvl="1"/>
            <a:r>
              <a:rPr b="1"/>
              <a:t>Confidence Scores</a:t>
            </a:r>
            <a:r>
              <a:rPr/>
              <a:t> - Model prediction confidence</a:t>
            </a:r>
          </a:p>
          <a:p>
            <a:pPr lvl="1"/>
            <a:r>
              <a:rPr b="1"/>
              <a:t>Accuracy</a:t>
            </a:r>
            <a:r>
              <a:rPr/>
              <a:t> - Correctness of predictions</a:t>
            </a:r>
          </a:p>
          <a:p>
            <a:pPr lvl="1"/>
            <a:r>
              <a:rPr b="1"/>
              <a:t>Memory Usage</a:t>
            </a:r>
            <a:r>
              <a:rPr/>
              <a:t> - Peak GPU memory (MB)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Benchmark Tests:</a:t>
            </a:r>
          </a:p>
          <a:p>
            <a:pPr lvl="1"/>
            <a:r>
              <a:rPr b="1"/>
              <a:t>Throughput (FPS)</a:t>
            </a:r>
            <a:r>
              <a:rPr/>
              <a:t> - Images/inferences per second</a:t>
            </a:r>
          </a:p>
          <a:p>
            <a:pPr lvl="1"/>
            <a:r>
              <a:rPr b="1"/>
              <a:t>Latency (ms)</a:t>
            </a:r>
            <a:r>
              <a:rPr/>
              <a:t> - Time per inference</a:t>
            </a:r>
          </a:p>
          <a:p>
            <a:pPr lvl="1"/>
            <a:r>
              <a:rPr b="1"/>
              <a:t>Batch Performance</a:t>
            </a:r>
            <a:r>
              <a:rPr/>
              <a:t> - Batch processing efficiency</a:t>
            </a:r>
          </a:p>
          <a:p>
            <a:pPr lvl="1"/>
            <a:r>
              <a:rPr b="1"/>
              <a:t>Memory Efficiency</a:t>
            </a:r>
            <a:r>
              <a:rPr/>
              <a:t> - FP16 vs FP32 memory usage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Optimization Tests:</a:t>
            </a:r>
          </a:p>
          <a:p>
            <a:pPr lvl="1"/>
            <a:r>
              <a:rPr b="1"/>
              <a:t>Speedup</a:t>
            </a:r>
            <a:r>
              <a:rPr/>
              <a:t> - FP16/INT8 vs FP32 speedup ratio</a:t>
            </a:r>
          </a:p>
          <a:p>
            <a:pPr lvl="1"/>
            <a:r>
              <a:rPr b="1"/>
              <a:t>Memory Savings</a:t>
            </a:r>
            <a:r>
              <a:rPr/>
              <a:t> - Memory reduction percentage</a:t>
            </a:r>
          </a:p>
          <a:p>
            <a:pPr lvl="1"/>
            <a:r>
              <a:rPr b="1"/>
              <a:t>Model Size</a:t>
            </a:r>
            <a:r>
              <a:rPr/>
              <a:t> - Quantized vs original model size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5.2 Example Results (Strix Halo gfx1151)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&lt;!-- ViT Throughput Benchmark --&gt;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"metric_throughput_fps"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"28.59"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"metric_latency_ms"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"34.98"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"gpu_family"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"gfx1151"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ViT Memory Usage --&gt;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"metric_peak_memory_mb"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"415.29"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&lt;!-- CLIP Performance --&gt;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"metric_throughput_fps"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"45.23"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  <a:br/>
            <a:r>
              <a:rPr b="1">
                <a:solidFill>
                  <a:srgbClr val="007020"/>
                </a:solidFill>
                <a:latin typeface="Courier"/>
              </a:rPr>
              <a:t>&lt;property</a:t>
            </a:r>
            <a:r>
              <a:rPr>
                <a:solidFill>
                  <a:srgbClr val="007020"/>
                </a:solidFill>
                <a:latin typeface="Courier"/>
              </a:rPr>
              <a:t> name=</a:t>
            </a:r>
            <a:r>
              <a:rPr>
                <a:solidFill>
                  <a:srgbClr val="4070A0"/>
                </a:solidFill>
                <a:latin typeface="Courier"/>
              </a:rPr>
              <a:t>"metric_similarity_score_red"</a:t>
            </a:r>
            <a:r>
              <a:rPr>
                <a:solidFill>
                  <a:srgbClr val="007020"/>
                </a:solidFill>
                <a:latin typeface="Courier"/>
              </a:rPr>
              <a:t> value=</a:t>
            </a:r>
            <a:r>
              <a:rPr>
                <a:solidFill>
                  <a:srgbClr val="4070A0"/>
                </a:solidFill>
                <a:latin typeface="Courier"/>
              </a:rPr>
              <a:t>"0.8523"</a:t>
            </a:r>
            <a:r>
              <a:rPr b="1">
                <a:solidFill>
                  <a:srgbClr val="007020"/>
                </a:solidFill>
                <a:latin typeface="Courier"/>
              </a:rPr>
              <a:t>/&gt;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6. CI/CD Workflow Design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6.1 Workflow Architecture</a:t>
            </a:r>
          </a:p>
          <a:p>
            <a:pPr lvl="0" indent="0">
              <a:buNone/>
            </a:pPr>
            <a:r>
              <a:rPr>
                <a:latin typeface="Courier"/>
              </a:rPr>
              <a:t>┌─────────────────────────────────────────────────────────────┐
│                    Trigger Event                             │
│  (Push / PR / Manual)                                        │
└───────────────────────┬─────────────────────────────────────┘
                        ▼
┌─────────────────────────────────────────────────────────────┐
│              Path Filter Check                               │
│  - tests/strix_ai/**                                         │
│  - .github/workflows/strix_ai*.yml                           │
└───────────────────────┬─────────────────────────────────────┘
                        ▼
┌─────────────────────────────────────────────────────────────┐
│          Select Runner &amp; Container                           │
│  Runner: linux-strix-halo-gpu-rocm                          │
│  Container: rocm/pytorch:latest                              │
└───────────────────────┬─────────────────────────────────────┘
                        ▼
┌─────────────────────────────────────────────────────────────┐
│            Setup &amp; Verification                              │
│  1. Checkout code                                            │
│  2. Verify ROCm/GPU (rocminfo)                              │
│  3. Install AI/ML dependencies                               │
│  4. Verify PyTorch GPU detection                             │
└───────────────────────┬─────────────────────────────────────┘
                        ▼
┌─────────────────────────────────────────────────────────────┐
│          Run Test Categories (Parallel)                      │
│  ┌──────────┐  ┌──────────┐  ┌──────────┐  ┌──────────┐   │
│  │   VLM    │  │   VLA    │  │   ViT    │  │    CV    │   │
│  └──────────┘  └──────────┘  └──────────┘  └──────────┘   │
│  ┌──────────┐  ┌──────────┐                                 │
│  │   Opt    │  │  Quick   │                                 │
│  └──────────┘  └──────────┘                                 │
└───────────────────────┬─────────────────────────────────────┘
                        ▼
┌─────────────────────────────────────────────────────────────┐
│         Display Results &amp; Archive                            │
│  1. Display XML in logs (::group::)                         │
│  2. Upload artifacts (30-day retention)                      │
│  3. Test summary                                             │
└─────────────────────────────────────────────────────────────┘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6.2 Workflow Features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Smart Triggering:</a:t>
            </a:r>
          </a:p>
          <a:p>
            <a:pPr lvl="1"/>
            <a:r>
              <a:rPr b="1"/>
              <a:t>Path-filtered</a:t>
            </a:r>
            <a:r>
              <a:rPr/>
              <a:t> - Only runs when relevant files change</a:t>
            </a:r>
          </a:p>
          <a:p>
            <a:pPr lvl="1"/>
            <a:r>
              <a:rPr b="1"/>
              <a:t>Branch-aware</a:t>
            </a:r>
            <a:r>
              <a:rPr/>
              <a:t> - Supports feature branches, main, develop</a:t>
            </a:r>
          </a:p>
          <a:p>
            <a:pPr lvl="1"/>
            <a:r>
              <a:rPr b="1"/>
              <a:t>Manual override</a:t>
            </a:r>
            <a:r>
              <a:rPr/>
              <a:t> - Full control via workflow_dispatch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Environment Configuration:</a:t>
            </a:r>
          </a:p>
          <a:p>
            <a:pPr lvl="0" indent="0">
              <a:buNone/>
            </a:pPr>
            <a:r>
              <a:rPr>
                <a:solidFill>
                  <a:srgbClr val="06287E"/>
                </a:solidFill>
                <a:latin typeface="Courier"/>
              </a:rPr>
              <a:t>env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AMDGPU_FAMILIES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gfx1151</a:t>
            </a:r>
            <a:r>
              <a:rPr i="1">
                <a:solidFill>
                  <a:srgbClr val="60A0B0"/>
                </a:solidFill>
                <a:latin typeface="Courier"/>
              </a:rPr>
              <a:t>  # GPU architecture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TEST_CATEGORY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all</a:t>
            </a:r>
            <a:r>
              <a:rPr i="1">
                <a:solidFill>
                  <a:srgbClr val="60A0B0"/>
                </a:solidFill>
                <a:latin typeface="Courier"/>
              </a:rPr>
              <a:t>         # Which tests to run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PLATFORM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linux</a:t>
            </a:r>
            <a:r>
              <a:rPr i="1">
                <a:solidFill>
                  <a:srgbClr val="60A0B0"/>
                </a:solidFill>
                <a:latin typeface="Courier"/>
              </a:rPr>
              <a:t>            # linux or windows</a:t>
            </a:r>
            <a:br/>
            <a:r>
              <a:rPr>
                <a:solidFill>
                  <a:srgbClr val="7D9029"/>
                </a:solidFill>
                <a:latin typeface="Courier"/>
              </a:rPr>
              <a:t>  </a:t>
            </a:r>
            <a:r>
              <a:rPr>
                <a:solidFill>
                  <a:srgbClr val="06287E"/>
                </a:solidFill>
                <a:latin typeface="Courier"/>
              </a:rPr>
              <a:t>PYTHONUNBUFFERED</a:t>
            </a:r>
            <a:r>
              <a:rPr b="1">
                <a:solidFill>
                  <a:srgbClr val="007020"/>
                </a:solidFill>
                <a:latin typeface="Courier"/>
              </a:rPr>
              <a:t>:</a:t>
            </a:r>
            <a:r>
              <a:rPr>
                <a:solidFill>
                  <a:srgbClr val="7D9029"/>
                </a:solidFill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 i="1">
                <a:solidFill>
                  <a:srgbClr val="60A0B0"/>
                </a:solidFill>
                <a:latin typeface="Courier"/>
              </a:rPr>
              <a:t>        # Real-time output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Test Execution Strategy:</a:t>
            </a:r>
          </a:p>
          <a:p>
            <a:pPr lvl="1"/>
            <a:r>
              <a:rPr b="1"/>
              <a:t>Sequential</a:t>
            </a:r>
            <a:r>
              <a:rPr/>
              <a:t> by default - Clear, ordered results</a:t>
            </a:r>
          </a:p>
          <a:p>
            <a:pPr lvl="1"/>
            <a:r>
              <a:rPr b="1"/>
              <a:t>Fail-safe</a:t>
            </a:r>
            <a:r>
              <a:rPr/>
              <a:t> - </a:t>
            </a:r>
            <a:r>
              <a:rPr>
                <a:latin typeface="Courier"/>
              </a:rPr>
              <a:t>|| exit 0</a:t>
            </a:r>
            <a:r>
              <a:rPr/>
              <a:t> prevents cascading failures</a:t>
            </a:r>
          </a:p>
          <a:p>
            <a:pPr lvl="1"/>
            <a:r>
              <a:rPr b="1"/>
              <a:t>Environment isolation</a:t>
            </a:r>
            <a:r>
              <a:rPr/>
              <a:t> - Each test gets AMDGPU_FAMILIES env var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7. Key Design Decisions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7.1 Container vs Native</a:t>
            </a:r>
          </a:p>
          <a:p>
            <a:pPr lvl="0" marL="0" indent="0">
              <a:buNone/>
            </a:pPr>
            <a:r>
              <a:rPr b="1"/>
              <a:t>Decision: Use ROCm PyTorch Container</a:t>
            </a:r>
            <a:r>
              <a:rPr/>
              <a:t> ✅</a:t>
            </a:r>
          </a:p>
          <a:p>
            <a:pPr lvl="0" marL="0" indent="0">
              <a:buNone/>
            </a:pPr>
            <a:r>
              <a:rPr b="1"/>
              <a:t>Rationale:</a:t>
            </a:r>
            <a:r>
              <a:rPr/>
              <a:t> | Aspect | Container | Native | |——–|———–|——–| | Setup Time | Fast (~30s) | Slow (~5min) | | Reproducibility | High | Medium | | Maintenance | Low | High | | Portability | High | Low | | ROCm Version Control | Easy | Complex |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7.2 Test Organization</a:t>
            </a:r>
          </a:p>
          <a:p>
            <a:pPr lvl="0" marL="0" indent="0">
              <a:buNone/>
            </a:pPr>
            <a:r>
              <a:rPr b="1"/>
              <a:t>Decision: Category-Based Structure</a:t>
            </a:r>
            <a:r>
              <a:rPr/>
              <a:t> ✅</a:t>
            </a:r>
          </a:p>
          <a:p>
            <a:pPr lvl="0" marL="0" indent="0">
              <a:buNone/>
            </a:pPr>
            <a:r>
              <a:rPr b="1"/>
              <a:t>Rationale:</a:t>
            </a:r>
            <a:r>
              <a:rPr/>
              <a:t> - Clear separation of concerns - Easy to run specific workloads - Parallel execution friendly - Matches AI/ML domain structure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7.3 Metrics Approach</a:t>
            </a:r>
          </a:p>
          <a:p>
            <a:pPr lvl="0" marL="0" indent="0">
              <a:buNone/>
            </a:pPr>
            <a:r>
              <a:rPr b="1"/>
              <a:t>Decision: JUnit XML with Custom Properties</a:t>
            </a:r>
            <a:r>
              <a:rPr/>
              <a:t> ✅</a:t>
            </a:r>
          </a:p>
          <a:p>
            <a:pPr lvl="0" marL="0" indent="0">
              <a:buNone/>
            </a:pPr>
            <a:r>
              <a:rPr b="1"/>
              <a:t>Rationale:</a:t>
            </a:r>
            <a:r>
              <a:rPr/>
              <a:t> - Standard format, wide tool support - CI/CD integration built-in - No external database needed - Human-readable in logs - Easy parsing for dashboards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7.4 Results Display</a:t>
            </a:r>
          </a:p>
          <a:p>
            <a:pPr lvl="0" marL="0" indent="0">
              <a:buNone/>
            </a:pPr>
            <a:r>
              <a:rPr b="1"/>
              <a:t>Decision: Inline XML + Artifact Upload</a:t>
            </a:r>
            <a:r>
              <a:rPr/>
              <a:t> ✅</a:t>
            </a:r>
          </a:p>
          <a:p>
            <a:pPr lvl="0" marL="0" indent="0">
              <a:buNone/>
            </a:pPr>
            <a:r>
              <a:rPr b="1"/>
              <a:t>Rationale:</a:t>
            </a:r>
            <a:r>
              <a:rPr/>
              <a:t> - Immediate visibility (no download) - Historical tracking (artifacts) - Easy debugging (click and read) - Copy/paste friendly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8. Client Benefits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8.1 Technical Benefits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Automated Validation</a:t>
            </a:r>
            <a:r>
              <a:rPr/>
              <a:t> - Every code change validated on real Strix hardware - Catch regressions before production - Continuous quality assurance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Performance Tracking</a:t>
            </a:r>
            <a:r>
              <a:rPr/>
              <a:t> - Historical metrics for trend analysis - Compare gfx1150 vs gfx1151 performance - Identify optimization opportunities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Comprehensive Coverage</a:t>
            </a:r>
            <a:r>
              <a:rPr/>
              <a:t> - All major AI/ML workloads tested - Edge AI and Copilot+ scenarios validated - Multiple model architectures verified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Fast Feedback</a:t>
            </a:r>
            <a:r>
              <a:rPr/>
              <a:t> - Results in ~2-3 minutes (quick tests) - XML visible immediately in logs - No artifact download needed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8.2 Business Benefits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Reduced Time-to-Market</a:t>
            </a:r>
            <a:r>
              <a:rPr/>
              <a:t> - Automated testing accelerates development - Early bug detection reduces costs - Parallel testing improves efficiency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Quality Assurance</a:t>
            </a:r>
            <a:r>
              <a:rPr/>
              <a:t> - Consistent testing methodology - Reproducible results - Hardware-specific validation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Scalability</a:t>
            </a:r>
            <a:r>
              <a:rPr/>
              <a:t> - Easy to add new test cases - Support for multiple platforms (Linux/Windows) - Extensible to new GPU architectures</a:t>
            </a:r>
          </a:p>
          <a:p>
            <a:pPr lvl="0" marL="0" indent="0">
              <a:buNone/>
            </a:pPr>
            <a:r>
              <a:rPr/>
              <a:t>✅ </a:t>
            </a:r>
            <a:r>
              <a:rPr b="1"/>
              <a:t>Transparency</a:t>
            </a:r>
            <a:r>
              <a:rPr/>
              <a:t> - All results visible in CI/CD logs - Metrics tracked over time - Clear pass/fail criteria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9. Future Enhancements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9.1 Short-term (Next 3 Months)</a:t>
            </a:r>
          </a:p>
          <a:p>
            <a:pPr lvl="0" marL="0" indent="0">
              <a:buNone/>
            </a:pPr>
            <a:r>
              <a:rPr b="1"/>
              <a:t>Windows Testing:</a:t>
            </a:r>
            <a:r>
              <a:rPr/>
              <a:t> - DirectML integration - WinML API validation - Windows Copilot+ specific tests</a:t>
            </a:r>
          </a:p>
          <a:p>
            <a:pPr lvl="0" marL="0" indent="0">
              <a:buNone/>
            </a:pPr>
            <a:r>
              <a:rPr b="1"/>
              <a:t>Extended Models:</a:t>
            </a:r>
            <a:r>
              <a:rPr/>
              <a:t> - Stable Diffusion on Strix - Whisper (audio AI) - LLaMA/Llama2 (LLMs)</a:t>
            </a:r>
          </a:p>
          <a:p>
            <a:pPr lvl="0" marL="0" indent="0">
              <a:buNone/>
            </a:pPr>
            <a:r>
              <a:rPr b="1"/>
              <a:t>Performance Baselines:</a:t>
            </a:r>
            <a:r>
              <a:rPr/>
              <a:t> - Establish target FPS for each model - Regression detection - Automated alerts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9.2 Medium-term (3-6 Months)</a:t>
            </a:r>
          </a:p>
          <a:p>
            <a:pPr lvl="0" marL="0" indent="0">
              <a:buNone/>
            </a:pPr>
            <a:r>
              <a:rPr b="1"/>
              <a:t>Dashboard Integration:</a:t>
            </a:r>
            <a:r>
              <a:rPr/>
              <a:t> - Web dashboard for metrics visualization - Trend analysis over time - Compare across GPU families</a:t>
            </a:r>
          </a:p>
          <a:p>
            <a:pPr lvl="0" marL="0" indent="0">
              <a:buNone/>
            </a:pPr>
            <a:r>
              <a:rPr b="1"/>
              <a:t>Power Efficiency:</a:t>
            </a:r>
            <a:r>
              <a:rPr/>
              <a:t> - Power consumption metrics - Performance-per-watt tracking - Battery life impact (laptops)</a:t>
            </a:r>
          </a:p>
          <a:p>
            <a:pPr lvl="0" marL="0" indent="0">
              <a:buNone/>
            </a:pPr>
            <a:r>
              <a:rPr b="1"/>
              <a:t>Multi-platform Matrix:</a:t>
            </a:r>
            <a:r>
              <a:rPr/>
              <a:t> - Linux + Windows parallel testing - gfx1150 + gfx1151 comparison - Automated cross-platform validation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9.3 Long-term (6-12 Months)</a:t>
            </a:r>
          </a:p>
          <a:p>
            <a:pPr lvl="0" marL="0" indent="0">
              <a:buNone/>
            </a:pPr>
            <a:r>
              <a:rPr b="1"/>
              <a:t>End-to-End Scenarios:</a:t>
            </a:r>
            <a:r>
              <a:rPr/>
              <a:t> - Real Copilot+ workflows - User-facing application testing - Integration with OEM validation</a:t>
            </a:r>
          </a:p>
          <a:p>
            <a:pPr lvl="0" marL="0" indent="0">
              <a:buNone/>
            </a:pPr>
            <a:r>
              <a:rPr b="1"/>
              <a:t>AI Model Zoo:</a:t>
            </a:r>
            <a:r>
              <a:rPr/>
              <a:t> - Pre-validated model repository - Performance database - Compatibility matrix</a:t>
            </a:r>
          </a:p>
          <a:p>
            <a:pPr lvl="0" marL="0" indent="0">
              <a:buNone/>
            </a:pPr>
            <a:r>
              <a:rPr b="1"/>
              <a:t>Heterogeneous Computing:</a:t>
            </a:r>
            <a:r>
              <a:rPr/>
              <a:t> - CPU+GPU hybrid workloads - NPU integration (future Strix) - Multi-GPU scenarios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10. Getting Started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10.1 For Developers</a:t>
            </a:r>
          </a:p>
          <a:p>
            <a:pPr lvl="0" marL="0" indent="0">
              <a:buNone/>
            </a:pPr>
            <a:r>
              <a:rPr b="1"/>
              <a:t>Run Tests Locally: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Ensure Strix GPU is available</a:t>
            </a:r>
            <a:br/>
            <a:r>
              <a:rPr>
                <a:latin typeface="Courier"/>
              </a:rPr>
              <a:t>rocminfo </a:t>
            </a:r>
            <a:r>
              <a:rPr b="1">
                <a:solidFill>
                  <a:srgbClr val="007020"/>
                </a:solidFill>
                <a:latin typeface="Courier"/>
              </a:rPr>
              <a:t>|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grep</a:t>
            </a:r>
            <a:r>
              <a:rPr>
                <a:latin typeface="Courier"/>
              </a:rPr>
              <a:t> gfx115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Set environment</a:t>
            </a:r>
            <a:br/>
            <a:r>
              <a:rPr>
                <a:latin typeface="Courier"/>
              </a:rPr>
              <a:t>export </a:t>
            </a:r>
            <a:r>
              <a:rPr>
                <a:solidFill>
                  <a:srgbClr val="19177C"/>
                </a:solidFill>
                <a:latin typeface="Courier"/>
              </a:rPr>
              <a:t>AMDGPU_FAMILIES=</a:t>
            </a:r>
            <a:r>
              <a:rPr>
                <a:latin typeface="Courier"/>
              </a:rPr>
              <a:t>gfx1151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specific category</a:t>
            </a:r>
            <a:br/>
            <a:r>
              <a:rPr>
                <a:latin typeface="Courier"/>
              </a:rPr>
              <a:t>python3 -m pytest tests/strix_ai/vit/ -v -s</a:t>
            </a:r>
            <a:br/>
            <a:br/>
            <a:r>
              <a:rPr i="1">
                <a:solidFill>
                  <a:srgbClr val="60A0B0"/>
                </a:solidFill>
                <a:latin typeface="Courier"/>
              </a:rPr>
              <a:t># Run all tests</a:t>
            </a:r>
            <a:br/>
            <a:r>
              <a:rPr>
                <a:latin typeface="Courier"/>
              </a:rPr>
              <a:t>python3 -m pytest tests/strix_ai/ -v -s -m </a:t>
            </a:r>
            <a:r>
              <a:rPr>
                <a:solidFill>
                  <a:srgbClr val="4070A0"/>
                </a:solidFill>
                <a:latin typeface="Courier"/>
              </a:rPr>
              <a:t>"not slow"</a:t>
            </a:r>
          </a:p>
          <a:p>
            <a:pPr lvl="0" marL="0" indent="0">
              <a:buNone/>
            </a:pPr>
            <a:r>
              <a:rPr b="1"/>
              <a:t>Trigger Workflow Manually:</a:t>
            </a:r>
          </a:p>
          <a:p>
            <a:pPr lvl="0" indent="0">
              <a:buNone/>
            </a:pPr>
            <a:r>
              <a:rPr i="1">
                <a:solidFill>
                  <a:srgbClr val="60A0B0"/>
                </a:solidFill>
                <a:latin typeface="Courier"/>
              </a:rPr>
              <a:t># Via GitHub UI: Actions → Strix AI/ML Testing → Run workflow</a:t>
            </a:r>
            <a:br/>
            <a:r>
              <a:rPr i="1">
                <a:solidFill>
                  <a:srgbClr val="60A0B0"/>
                </a:solidFill>
                <a:latin typeface="Courier"/>
              </a:rPr>
              <a:t># Select: category=vit, platform=linux, test_type=quick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10.2 For Reviewers</a:t>
            </a:r>
          </a:p>
          <a:p>
            <a:pPr lvl="0" marL="0" indent="0">
              <a:buNone/>
            </a:pPr>
            <a:r>
              <a:rPr b="1"/>
              <a:t>View Results:</a:t>
            </a:r>
            <a:r>
              <a:rPr/>
              <a:t> 1. Navigate to GitHub Actions run 2. Click on “Strix AI Tests” job 3. Expand “📊 Display Test Results XML” step 4. View XML with all metrics inline</a:t>
            </a:r>
          </a:p>
          <a:p>
            <a:pPr lvl="0" marL="0" indent="0">
              <a:buNone/>
            </a:pPr>
            <a:r>
              <a:rPr b="1"/>
              <a:t>Download Artifacts (Optional):</a:t>
            </a:r>
            <a:r>
              <a:rPr/>
              <a:t> 1. Scroll to bottom of workflow run 2. Download </a:t>
            </a:r>
            <a:r>
              <a:rPr>
                <a:latin typeface="Courier"/>
              </a:rPr>
              <a:t>strix-ai-test-results-linux-gfx1151-all.zip</a:t>
            </a:r>
            <a:r>
              <a:rPr/>
              <a:t> 3. Extract and view XML files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11. Support &amp; Documentation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Reference Documents:</a:t>
            </a:r>
          </a:p>
          <a:p>
            <a:pPr lvl="1"/>
            <a:r>
              <a:rPr b="1"/>
              <a:t>Test Plan</a:t>
            </a:r>
            <a:r>
              <a:rPr/>
              <a:t>: </a:t>
            </a:r>
            <a:r>
              <a:rPr>
                <a:latin typeface="Courier"/>
              </a:rPr>
              <a:t>docs/development/STRIX_AI_ML_TEST_PLAN.md</a:t>
            </a:r>
          </a:p>
          <a:p>
            <a:pPr lvl="1"/>
            <a:r>
              <a:rPr b="1"/>
              <a:t>Quick Start</a:t>
            </a:r>
            <a:r>
              <a:rPr/>
              <a:t>: </a:t>
            </a:r>
            <a:r>
              <a:rPr>
                <a:latin typeface="Courier"/>
              </a:rPr>
              <a:t>docs/development/STRIX_AI_QUICK_START.md</a:t>
            </a:r>
          </a:p>
          <a:p>
            <a:pPr lvl="1"/>
            <a:r>
              <a:rPr b="1"/>
              <a:t>Testing Guide</a:t>
            </a:r>
            <a:r>
              <a:rPr/>
              <a:t>: </a:t>
            </a:r>
            <a:r>
              <a:rPr>
                <a:latin typeface="Courier"/>
              </a:rPr>
              <a:t>docs/development/STRIX_TESTING_GUIDE.md</a:t>
            </a:r>
          </a:p>
          <a:p>
            <a:pPr lvl="1"/>
            <a:r>
              <a:rPr b="1"/>
              <a:t>Workflow Usage</a:t>
            </a:r>
            <a:r>
              <a:rPr/>
              <a:t>: </a:t>
            </a:r>
            <a:r>
              <a:rPr>
                <a:latin typeface="Courier"/>
              </a:rPr>
              <a:t>docs/development/STRIX_WORKFLOW_USAGE.md</a:t>
            </a:r>
          </a:p>
          <a:p>
            <a:pPr lvl="0" marL="0" indent="0">
              <a:spcBef>
                <a:spcPts val="3000"/>
              </a:spcBef>
              <a:buNone/>
            </a:pPr>
            <a:r>
              <a:rPr b="1"/>
              <a:t>Contact:</a:t>
            </a:r>
          </a:p>
          <a:p>
            <a:pPr lvl="1"/>
            <a:r>
              <a:rPr b="1"/>
              <a:t>Repository</a:t>
            </a:r>
            <a:r>
              <a:rPr/>
              <a:t>: </a:t>
            </a:r>
            <a:r>
              <a:rPr>
                <a:latin typeface="Courier"/>
              </a:rPr>
              <a:t>ROCm/TheRock</a:t>
            </a:r>
          </a:p>
          <a:p>
            <a:pPr lvl="1"/>
            <a:r>
              <a:rPr b="1"/>
              <a:t>Branch</a:t>
            </a:r>
            <a:r>
              <a:rPr/>
              <a:t>: </a:t>
            </a:r>
            <a:r>
              <a:rPr>
                <a:latin typeface="Courier"/>
              </a:rPr>
              <a:t>users/rponnuru/strix_poc</a:t>
            </a:r>
          </a:p>
          <a:p>
            <a:pPr lvl="1"/>
            <a:r>
              <a:rPr b="1"/>
              <a:t>Workflows</a:t>
            </a:r>
            <a:r>
              <a:rPr/>
              <a:t>: </a:t>
            </a:r>
            <a:r>
              <a:rPr>
                <a:latin typeface="Courier"/>
              </a:rPr>
              <a:t>.github/workflows/strix_ai_*.yml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spcBef>
                <a:spcPts val="3000"/>
              </a:spcBef>
              <a:buNone/>
            </a:pPr>
            <a:r>
              <a:rPr b="1"/>
              <a:t>12. Conclusion</a:t>
            </a:r>
          </a:p>
          <a:p>
            <a:pPr lvl="0" marL="0" indent="0">
              <a:buNone/>
            </a:pPr>
            <a:r>
              <a:rPr/>
              <a:t>The Strix AI/ML integration provides a </a:t>
            </a:r>
            <a:r>
              <a:rPr b="1"/>
              <a:t>production-ready, automated testing framework</a:t>
            </a:r>
            <a:r>
              <a:rPr/>
              <a:t> for validating AMD Strix GPU performance across critical AI/ML workloads. With comprehensive metrics capture, inline result display, and CI/CD integration, the solution enables rapid iteration and quality assurance for Edge AI and Windows Copilot+ scenarios.</a:t>
            </a:r>
          </a:p>
          <a:p>
            <a:pPr lvl="0" marL="0" indent="0">
              <a:buNone/>
            </a:pPr>
            <a:r>
              <a:rPr b="1"/>
              <a:t>Key Takeaways:</a:t>
            </a:r>
            <a:r>
              <a:rPr/>
              <a:t> - ✅ </a:t>
            </a:r>
            <a:r>
              <a:rPr b="1"/>
              <a:t>Automated</a:t>
            </a:r>
            <a:r>
              <a:rPr/>
              <a:t>: Tests run on every push/PR - ✅ </a:t>
            </a:r>
            <a:r>
              <a:rPr b="1"/>
              <a:t>Comprehensive</a:t>
            </a:r>
            <a:r>
              <a:rPr/>
              <a:t>: VLM, VLA, ViT, CV, Optimization coverage - ✅ </a:t>
            </a:r>
            <a:r>
              <a:rPr b="1"/>
              <a:t>Performant</a:t>
            </a:r>
            <a:r>
              <a:rPr/>
              <a:t>: Results in 2-3 minutes (quick), 15-20 minutes (full) - ✅ </a:t>
            </a:r>
            <a:r>
              <a:rPr b="1"/>
              <a:t>Transparent</a:t>
            </a:r>
            <a:r>
              <a:rPr/>
              <a:t>: All metrics visible in logs, no download needed - ✅ </a:t>
            </a:r>
            <a:r>
              <a:rPr b="1"/>
              <a:t>Scalable</a:t>
            </a:r>
            <a:r>
              <a:rPr/>
              <a:t>: Easy to extend with new models and platforms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marL="0" indent="0">
              <a:buNone/>
            </a:pPr>
            <a:r>
              <a:rPr b="1"/>
              <a:t>Document Version</a:t>
            </a:r>
            <a:r>
              <a:rPr/>
              <a:t>: 1.0 </a:t>
            </a:r>
            <a:r>
              <a:rPr b="1"/>
              <a:t>Last Updated</a:t>
            </a:r>
            <a:r>
              <a:rPr/>
              <a:t>: December 12, 2025 </a:t>
            </a:r>
            <a:r>
              <a:rPr b="1"/>
              <a:t>Status</a:t>
            </a:r>
            <a:r>
              <a:rPr/>
              <a:t>: Production Ready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Office PowerPoint</Application>
  <PresentationFormat>On-screen Show (4:3)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2025-12-12T19:21:18Z</dcterms:created>
  <dcterms:modified xsi:type="dcterms:W3CDTF">2025-12-12T19:21:18Z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
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1" Type="http://schemas.openxmlformats.org/officeDocument/2006/relationships/viewProps" Target="viewProps.xml" /><Relationship Id="rId6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3" Type="http://schemas.openxmlformats.org/officeDocument/2006/relationships/tableStyles" Target="tableStyles.xml" /><Relationship Id="rId6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Strix</a:t>
            </a:r>
            <a:r>
              <a:rPr/>
              <a:t> </a:t>
            </a:r>
            <a:r>
              <a:rPr/>
              <a:t>AI/ML</a:t>
            </a:r>
            <a:r>
              <a:rPr/>
              <a:t> </a:t>
            </a:r>
            <a:r>
              <a:rPr/>
              <a:t>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Architecture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Overview</a:t>
            </a:r>
            <a:br/>
            <a:br/>
            <a:r>
              <a:rPr/>
              <a:t>AMD</a:t>
            </a:r>
            <a:r>
              <a:rPr/>
              <a:t> </a:t>
            </a:r>
            <a:r>
              <a:rPr/>
              <a:t>ROCm</a:t>
            </a:r>
            <a:r>
              <a:rPr/>
              <a:t> </a:t>
            </a:r>
            <a:r>
              <a:rPr/>
              <a:t>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December</a:t>
            </a:r>
            <a:r>
              <a:rPr/>
              <a:t> </a:t>
            </a: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Executive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Strix AI/ML Testing Framework</a:t>
            </a:r>
          </a:p>
          <a:p>
            <a:pPr lvl="0" marL="0" indent="0">
              <a:buNone/>
            </a:pPr>
            <a:r>
              <a:rPr/>
              <a:t>Comprehensive validation of </a:t>
            </a:r>
            <a:r>
              <a:rPr b="1"/>
              <a:t>Edge AI</a:t>
            </a:r>
            <a:r>
              <a:rPr/>
              <a:t> and </a:t>
            </a:r>
            <a:r>
              <a:rPr b="1"/>
              <a:t>Windows Copilot+</a:t>
            </a:r>
            <a:r>
              <a:rPr/>
              <a:t> workloads on AMD Strix integrated GPUs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Key Achievements</a:t>
            </a:r>
          </a:p>
          <a:p>
            <a:pPr lvl="1"/>
            <a:r>
              <a:rPr/>
              <a:t>✅ ROCm-accelerated AI/ML testing on Strix iGPUs</a:t>
            </a:r>
          </a:p>
          <a:p>
            <a:pPr lvl="1"/>
            <a:r>
              <a:rPr/>
              <a:t>✅ Automated CI/CD pipeline with GitHub Actions</a:t>
            </a:r>
          </a:p>
          <a:p>
            <a:pPr lvl="1"/>
            <a:r>
              <a:rPr/>
              <a:t>✅ Comprehensive test coverage: 6 AI/ML categories</a:t>
            </a:r>
          </a:p>
          <a:p>
            <a:pPr lvl="1"/>
            <a:r>
              <a:rPr/>
              <a:t>✅ Performance metrics in JUnit XML format</a:t>
            </a:r>
          </a:p>
          <a:p>
            <a:pPr lvl="1"/>
            <a:r>
              <a:rPr/>
              <a:t>✅ Zero-download results in GitHub Actions logs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Overview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System Architecture - High Level</a:t>
            </a:r>
          </a:p>
          <a:p>
            <a:pPr lvl="0" marL="0" indent="0">
              <a:buNone/>
            </a:pPr>
            <a:r>
              <a:rPr b="1"/>
              <a:t>Four-Layer Architecture:</a:t>
            </a:r>
          </a:p>
          <a:p>
            <a:pPr lvl="1">
              <a:buAutoNum type="arabicPeriod"/>
            </a:pPr>
            <a:r>
              <a:rPr b="1"/>
              <a:t>Test Framework Layer</a:t>
            </a:r>
          </a:p>
          <a:p>
            <a:pPr lvl="2"/>
            <a:r>
              <a:rPr/>
              <a:t>VLM, VLA, ViT, CV, Optimization, Quick Tests</a:t>
            </a:r>
          </a:p>
          <a:p>
            <a:pPr lvl="1">
              <a:buAutoNum type="arabicPeriod"/>
            </a:pPr>
            <a:r>
              <a:rPr b="1"/>
              <a:t>CI/CD Pipeline Layer</a:t>
            </a:r>
          </a:p>
          <a:p>
            <a:pPr lvl="2"/>
            <a:r>
              <a:rPr/>
              <a:t>GitHub Actions automation</a:t>
            </a:r>
          </a:p>
          <a:p>
            <a:pPr lvl="2"/>
            <a:r>
              <a:rPr/>
              <a:t>ROCm PyTorch containers</a:t>
            </a:r>
          </a:p>
          <a:p>
            <a:pPr lvl="1">
              <a:buAutoNum type="arabicPeriod"/>
            </a:pPr>
            <a:r>
              <a:rPr b="1"/>
              <a:t>Hardware Layer</a:t>
            </a:r>
          </a:p>
          <a:p>
            <a:pPr lvl="2"/>
            <a:r>
              <a:rPr/>
              <a:t>Strix Point (gfx1150)</a:t>
            </a:r>
          </a:p>
          <a:p>
            <a:pPr lvl="2"/>
            <a:r>
              <a:rPr/>
              <a:t>Strix Halo (gfx1151)</a:t>
            </a:r>
          </a:p>
          <a:p>
            <a:pPr lvl="1">
              <a:buAutoNum type="arabicPeriod"/>
            </a:pPr>
            <a:r>
              <a:rPr b="1"/>
              <a:t>Results Layer</a:t>
            </a:r>
          </a:p>
          <a:p>
            <a:pPr lvl="2"/>
            <a:r>
              <a:rPr/>
              <a:t>JUnit XML with metrics</a:t>
            </a:r>
          </a:p>
          <a:p>
            <a:pPr lvl="2"/>
            <a:r>
              <a:rPr/>
              <a:t>Inline display in logs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Test Framework Components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Vision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  <a:r>
                        <a:rPr/>
                        <a:t> </a:t>
                      </a:r>
                      <a:r>
                        <a:rPr/>
                        <a:t>Models</a:t>
                      </a:r>
                      <a:r>
                        <a:rPr/>
                        <a:t> </a:t>
                      </a:r>
                      <a:r>
                        <a:rPr/>
                        <a:t>(CLIP)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Vision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  <a:r>
                        <a:rPr/>
                        <a:t> </a:t>
                      </a:r>
                      <a:r>
                        <a:rPr/>
                        <a:t>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Vision</a:t>
                      </a:r>
                      <a:r>
                        <a:rPr/>
                        <a:t> </a:t>
                      </a:r>
                      <a:r>
                        <a:rPr/>
                        <a:t>Transformers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Computer</a:t>
                      </a:r>
                      <a:r>
                        <a:rPr/>
                        <a:t> </a:t>
                      </a:r>
                      <a:r>
                        <a:rPr/>
                        <a:t>Vision</a:t>
                      </a:r>
                      <a:r>
                        <a:rPr/>
                        <a:t> </a:t>
                      </a:r>
                      <a:r>
                        <a:rPr/>
                        <a:t>(YOLO)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FP16/INT8</a:t>
                      </a:r>
                      <a:r>
                        <a:rPr/>
                        <a:t> </a:t>
                      </a:r>
                      <a:r>
                        <a:rPr/>
                        <a:t>Quantization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Quick</a:t>
                      </a:r>
                      <a:r>
                        <a:rPr b="1"/>
                        <a:t> </a:t>
                      </a:r>
                      <a:r>
                        <a:rPr b="1"/>
                        <a:t>Smoke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Fast</a:t>
                      </a:r>
                      <a:r>
                        <a:rPr/>
                        <a:t> </a:t>
                      </a: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Done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Container Infrastructure</a:t>
            </a:r>
          </a:p>
          <a:p>
            <a:pPr lvl="0" marL="0" indent="0">
              <a:buNone/>
            </a:pPr>
            <a:r>
              <a:rPr b="1"/>
              <a:t>ROCm PyTorch Container Includes:</a:t>
            </a:r>
          </a:p>
          <a:p>
            <a:pPr lvl="1"/>
            <a:r>
              <a:rPr/>
              <a:t>ROCm Runtime 6.x</a:t>
            </a:r>
          </a:p>
          <a:p>
            <a:pPr lvl="1"/>
            <a:r>
              <a:rPr/>
              <a:t>PyTorch 2.x with ROCm backend</a:t>
            </a:r>
          </a:p>
          <a:p>
            <a:pPr lvl="1"/>
            <a:r>
              <a:rPr/>
              <a:t>torchvision</a:t>
            </a:r>
          </a:p>
          <a:p>
            <a:pPr lvl="1"/>
            <a:r>
              <a:rPr/>
              <a:t>Hugging Face transformers</a:t>
            </a:r>
          </a:p>
          <a:p>
            <a:pPr lvl="1"/>
            <a:r>
              <a:rPr/>
              <a:t>Ultralytics (YOLO)</a:t>
            </a:r>
          </a:p>
          <a:p>
            <a:pPr lvl="1"/>
            <a:r>
              <a:rPr/>
              <a:t>OpenCV, Pillow</a:t>
            </a:r>
          </a:p>
          <a:p>
            <a:pPr lvl="1"/>
            <a:r>
              <a:rPr/>
              <a:t>pytest framework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Hardware Layer</a:t>
            </a:r>
          </a:p>
          <a:p>
            <a:pPr lvl="0" marL="0" indent="0">
              <a:buNone/>
            </a:pPr>
            <a:r>
              <a:rPr b="1"/>
              <a:t>AMD Strix Platforms: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Strix Point (gfx1150)</a:t>
            </a:r>
          </a:p>
          <a:p>
            <a:pPr lvl="1"/>
            <a:r>
              <a:rPr/>
              <a:t>RDNA 3.5 iGPU</a:t>
            </a:r>
          </a:p>
          <a:p>
            <a:pPr lvl="1"/>
            <a:r>
              <a:rPr/>
              <a:t>Edge AI workloads</a:t>
            </a:r>
          </a:p>
          <a:p>
            <a:pPr lvl="1"/>
            <a:r>
              <a:rPr/>
              <a:t>Windows Copilot+ scenarios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Strix Halo (gfx1151)</a:t>
            </a:r>
          </a:p>
          <a:p>
            <a:pPr lvl="1"/>
            <a:r>
              <a:rPr/>
              <a:t>RDNA 3.5 iGPU (higher CU count)</a:t>
            </a:r>
          </a:p>
          <a:p>
            <a:pPr lvl="1"/>
            <a:r>
              <a:rPr/>
              <a:t>Premium Edge AI</a:t>
            </a:r>
          </a:p>
          <a:p>
            <a:pPr lvl="1"/>
            <a:r>
              <a:rPr/>
              <a:t>Enhanced Copilot+ performance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Approach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Repository 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TheRock/
├── tests/strix_ai/          # AI/ML tests
│   ├── vlm/                 # CLIP tests
│   ├── vla/                 # Action tests
│   ├── vit/                 # Transformer tests
│   ├── cv/                  # YOLO tests
│   └── optimization/        # Quantization tests
│
├── .github/workflows/
│   ├── strix_ai_tests.yml   # Main workflow
│   └── strix_ai_quick_test.yml
│
└── docs/development/        # Documentation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CI/CD Integration Points</a:t>
            </a:r>
          </a:p>
          <a:p>
            <a:pPr lvl="0" marL="0" indent="0">
              <a:buNone/>
            </a:pPr>
            <a:r>
              <a:rPr b="1"/>
              <a:t>Workflow Triggers:</a:t>
            </a:r>
          </a:p>
          <a:p>
            <a:pPr lvl="1"/>
            <a:r>
              <a:rPr b="1"/>
              <a:t>Automatic</a:t>
            </a:r>
            <a:r>
              <a:rPr/>
              <a:t>: Push/PR to Strix branches</a:t>
            </a:r>
          </a:p>
          <a:p>
            <a:pPr lvl="1"/>
            <a:r>
              <a:rPr b="1"/>
              <a:t>Path-filtered</a:t>
            </a:r>
            <a:r>
              <a:rPr/>
              <a:t>: Only when test files change</a:t>
            </a:r>
          </a:p>
          <a:p>
            <a:pPr lvl="1"/>
            <a:r>
              <a:rPr b="1"/>
              <a:t>Manual</a:t>
            </a:r>
            <a:r>
              <a:rPr/>
              <a:t>: workflow_dispatch with parameters</a:t>
            </a:r>
          </a:p>
          <a:p>
            <a:pPr lvl="0" marL="0" indent="0">
              <a:buNone/>
            </a:pPr>
            <a:r>
              <a:rPr b="1"/>
              <a:t>Container Setup:</a:t>
            </a:r>
          </a:p>
          <a:p>
            <a:pPr lvl="1"/>
            <a:r>
              <a:rPr/>
              <a:t>Image: </a:t>
            </a:r>
            <a:r>
              <a:rPr>
                <a:latin typeface="Courier"/>
              </a:rPr>
              <a:t>rocm/pytorch:latest</a:t>
            </a:r>
          </a:p>
          <a:p>
            <a:pPr lvl="1"/>
            <a:r>
              <a:rPr/>
              <a:t>GPU Access: </a:t>
            </a:r>
            <a:r>
              <a:rPr>
                <a:latin typeface="Courier"/>
              </a:rPr>
              <a:t>/dev/kfd</a:t>
            </a:r>
            <a:r>
              <a:rPr/>
              <a:t>, </a:t>
            </a:r>
            <a:r>
              <a:rPr>
                <a:latin typeface="Courier"/>
              </a:rPr>
              <a:t>/dev/dri</a:t>
            </a:r>
          </a:p>
          <a:p>
            <a:pPr lvl="1"/>
            <a:r>
              <a:rPr/>
              <a:t>IPC: Host mode for shared memory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Hardware Integration Strategy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1: Container-Based ✅ COMPLETED</a:t>
            </a:r>
          </a:p>
          <a:p>
            <a:pPr lvl="1"/>
            <a:r>
              <a:rPr/>
              <a:t>Official ROCm PyTorch containers</a:t>
            </a:r>
          </a:p>
          <a:p>
            <a:pPr lvl="1"/>
            <a:r>
              <a:rPr/>
              <a:t>GPU passthrough via Docker</a:t>
            </a:r>
          </a:p>
          <a:p>
            <a:pPr lvl="1"/>
            <a:r>
              <a:rPr/>
              <a:t>Reproducible &amp; portable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2: Direct Hardware (Future)</a:t>
            </a:r>
          </a:p>
          <a:p>
            <a:pPr lvl="1"/>
            <a:r>
              <a:rPr/>
              <a:t>Native ROCm installation</a:t>
            </a:r>
          </a:p>
          <a:p>
            <a:pPr lvl="1"/>
            <a:r>
              <a:rPr/>
              <a:t>Windows-specific testing (DirectML)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3: Heterogeneous (Future)</a:t>
            </a:r>
          </a:p>
          <a:p>
            <a:pPr lvl="1"/>
            <a:r>
              <a:rPr/>
              <a:t>Multi-GPU testing</a:t>
            </a:r>
          </a:p>
          <a:p>
            <a:pPr lvl="1"/>
            <a:r>
              <a:rPr/>
              <a:t>Power efficiency benchmarks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3.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Implementation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GPU Detection &amp; Validation</a:t>
            </a:r>
          </a:p>
          <a:p>
            <a:pPr lvl="0" marL="0" indent="0">
              <a:buNone/>
            </a:pPr>
            <a:r>
              <a:rPr b="1"/>
              <a:t>Automatic Strix Detection: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@pytest.fixture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strix_device():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Check GPU available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torch.cuda.is_available():</a:t>
            </a:r>
            <a:br/>
            <a:r>
              <a:rPr>
                <a:latin typeface="Courier"/>
              </a:rPr>
              <a:t>        pytest.skip(</a:t>
            </a:r>
            <a:r>
              <a:rPr>
                <a:solidFill>
                  <a:srgbClr val="4070A0"/>
                </a:solidFill>
                <a:latin typeface="Courier"/>
              </a:rPr>
              <a:t>"GPU not available"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Verify Strix GPU</a:t>
            </a:r>
            <a:br/>
            <a:r>
              <a:rPr>
                <a:latin typeface="Courier"/>
              </a:rPr>
              <a:t>    amdgpu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os.getenv(</a:t>
            </a:r>
            <a:r>
              <a:rPr>
                <a:solidFill>
                  <a:srgbClr val="4070A0"/>
                </a:solidFill>
                <a:latin typeface="Courier"/>
              </a:rPr>
              <a:t>"AMDGPU_FAMILIES"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amdgpu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"gfx1150"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pytest.skip(</a:t>
            </a:r>
            <a:r>
              <a:rPr>
                <a:solidFill>
                  <a:srgbClr val="4070A0"/>
                </a:solidFill>
                <a:latin typeface="Courier"/>
              </a:rPr>
              <a:t>"Not a Strix device"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torch.device(</a:t>
            </a:r>
            <a:r>
              <a:rPr>
                <a:solidFill>
                  <a:srgbClr val="4070A0"/>
                </a:solidFill>
                <a:latin typeface="Courier"/>
              </a:rPr>
              <a:t>"cuda"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Metrics Capture</a:t>
            </a:r>
          </a:p>
          <a:p>
            <a:pPr lvl="0" marL="0" indent="0">
              <a:buNone/>
            </a:pPr>
            <a:r>
              <a:rPr b="1"/>
              <a:t>JUnit XML with Custom Properties: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&lt;testcase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"test_vit_throughput"</a:t>
            </a:r>
            <a:r>
              <a:rPr>
                <a:solidFill>
                  <a:srgbClr val="007020"/>
                </a:solidFill>
                <a:latin typeface="Courier"/>
              </a:rPr>
              <a:t> time=</a:t>
            </a:r>
            <a:r>
              <a:rPr>
                <a:solidFill>
                  <a:srgbClr val="4070A0"/>
                </a:solidFill>
                <a:latin typeface="Courier"/>
              </a:rPr>
              <a:t>"4.599"</a:t>
            </a:r>
            <a:r>
              <a:rPr b="1">
                <a:solidFill>
                  <a:srgbClr val="00702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&lt;properties&gt;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"28.59"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"34.98"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&lt;/properties&gt;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&lt;/testcase&gt;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Metrics in Test Code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test_vit_throughput(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strix_device, record_property):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Run benchmark</a:t>
            </a:r>
            <a:br/>
            <a:r>
              <a:rPr>
                <a:latin typeface="Courier"/>
              </a:rPr>
              <a:t>    fps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benchmark_model()</a:t>
            </a:r>
            <a:br/>
            <a:r>
              <a:rPr>
                <a:latin typeface="Courier"/>
              </a:rPr>
              <a:t>    latency_ms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fps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Capture metrics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fps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latency_ms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latin typeface="Courier"/>
              </a:rPr>
              <a:t>, AMDGPU_FAMILIES)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Assertions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fps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"Throughput too low"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Results Display - Inline XML</a:t>
            </a:r>
          </a:p>
          <a:p>
            <a:pPr lvl="0" marL="0" indent="0">
              <a:buNone/>
            </a:pPr>
            <a:r>
              <a:rPr b="1"/>
              <a:t>GitHub Actions Step: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📊 Display Test Results XML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for xml_file in test-results-*.xml; do</a:t>
            </a:r>
            <a:br/>
            <a:r>
              <a:rPr>
                <a:latin typeface="Courier"/>
              </a:rPr>
              <a:t>      echo "::group::📄 $xml_file"</a:t>
            </a:r>
            <a:br/>
            <a:r>
              <a:rPr>
                <a:latin typeface="Courier"/>
              </a:rPr>
              <a:t>      cat "$xml_file"</a:t>
            </a:r>
            <a:br/>
            <a:r>
              <a:rPr>
                <a:latin typeface="Courier"/>
              </a:rPr>
              <a:t>      echo "::endgroup::"</a:t>
            </a:r>
            <a:br/>
            <a:r>
              <a:rPr>
                <a:latin typeface="Courier"/>
              </a:rPr>
              <a:t>    done</a:t>
            </a:r>
          </a:p>
          <a:p>
            <a:pPr lvl="0" marL="0" indent="0">
              <a:buNone/>
            </a:pPr>
            <a:r>
              <a:rPr b="1"/>
              <a:t>Benefits:</a:t>
            </a:r>
            <a:r>
              <a:rPr/>
              <a:t> No artifact download needed!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4.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Coverage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Coverage Matrix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Similarity,</a:t>
                      </a:r>
                      <a:r>
                        <a:rPr/>
                        <a:t> </a:t>
                      </a: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latency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OWL-ViT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Detection,</a:t>
                      </a:r>
                      <a:r>
                        <a:rPr/>
                        <a:t> </a:t>
                      </a:r>
                      <a:r>
                        <a:rPr/>
                        <a:t>latency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ViT-Base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memory,</a:t>
                      </a:r>
                      <a:r>
                        <a:rPr/>
                        <a:t> </a:t>
                      </a:r>
                      <a:r>
                        <a:rPr/>
                        <a:t>confidence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YOLOv8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Detection,</a:t>
                      </a:r>
                      <a:r>
                        <a:rPr/>
                        <a:t> </a:t>
                      </a: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accuracy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FP16/INT8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Speedup,</a:t>
                      </a:r>
                      <a:r>
                        <a:rPr/>
                        <a:t> </a:t>
                      </a:r>
                      <a:r>
                        <a:rPr/>
                        <a:t>memory</a:t>
                      </a:r>
                      <a:r>
                        <a:rPr/>
                        <a:t> </a:t>
                      </a:r>
                      <a:r>
                        <a:rPr/>
                        <a:t>savings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Quick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Pass/fail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Metrics Per Test Type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Functional Tests</a:t>
            </a:r>
          </a:p>
          <a:p>
            <a:pPr lvl="1"/>
            <a:r>
              <a:rPr/>
              <a:t>Inference time (ms)</a:t>
            </a:r>
          </a:p>
          <a:p>
            <a:pPr lvl="1"/>
            <a:r>
              <a:rPr/>
              <a:t>Confidence scores</a:t>
            </a:r>
          </a:p>
          <a:p>
            <a:pPr lvl="1"/>
            <a:r>
              <a:rPr/>
              <a:t>Accuracy</a:t>
            </a:r>
          </a:p>
          <a:p>
            <a:pPr lvl="1"/>
            <a:r>
              <a:rPr/>
              <a:t>Peak GPU memory (MB)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Benchmark Tests</a:t>
            </a:r>
          </a:p>
          <a:p>
            <a:pPr lvl="1"/>
            <a:r>
              <a:rPr/>
              <a:t>Throughput (FPS)</a:t>
            </a:r>
          </a:p>
          <a:p>
            <a:pPr lvl="1"/>
            <a:r>
              <a:rPr/>
              <a:t>Latency (ms)</a:t>
            </a:r>
          </a:p>
          <a:p>
            <a:pPr lvl="1"/>
            <a:r>
              <a:rPr/>
              <a:t>Batch performance</a:t>
            </a:r>
          </a:p>
          <a:p>
            <a:pPr lvl="1"/>
            <a:r>
              <a:rPr/>
              <a:t>Memory efficiency (FP16 vs FP32)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Example Real Results</a:t>
            </a:r>
          </a:p>
          <a:p>
            <a:pPr lvl="0" marL="0" indent="0">
              <a:buNone/>
            </a:pPr>
            <a:r>
              <a:rPr b="1"/>
              <a:t>Strix Halo (gfx1151):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</a:t>
                      </a:r>
                      <a:r>
                        <a:rPr/>
                        <a:t> </a:t>
                      </a:r>
                      <a:r>
                        <a:rPr/>
                        <a:t>Throughput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28.59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</a:t>
                      </a:r>
                      <a:r>
                        <a:rPr/>
                        <a:t> </a:t>
                      </a:r>
                      <a:r>
                        <a:rPr/>
                        <a:t>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34.98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</a:t>
                      </a:r>
                      <a:r>
                        <a:rPr/>
                        <a:t> </a:t>
                      </a:r>
                      <a:r>
                        <a:rPr/>
                        <a:t>Memory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415.29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CLIP</a:t>
                      </a:r>
                      <a:r>
                        <a:rPr/>
                        <a:t> </a:t>
                      </a:r>
                      <a:r>
                        <a:rPr/>
                        <a:t>Similarity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0.8523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CLIP</a:t>
                      </a:r>
                      <a:r>
                        <a:rPr/>
                        <a:t> </a:t>
                      </a:r>
                      <a:r>
                        <a:rPr/>
                        <a:t>FPS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45.23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5.</a:t>
            </a:r>
            <a:r>
              <a:rPr/>
              <a:t> </a:t>
            </a:r>
            <a:r>
              <a:rPr/>
              <a:t>CI/CD</a:t>
            </a:r>
            <a:r>
              <a:rPr/>
              <a:t> </a:t>
            </a:r>
            <a:r>
              <a:rPr/>
              <a:t>Workflow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Workflow Architecture</a:t>
            </a:r>
          </a:p>
          <a:p>
            <a:pPr lvl="0" marL="0" indent="0">
              <a:buNone/>
            </a:pPr>
            <a:r>
              <a:rPr b="1"/>
              <a:t>Flow:</a:t>
            </a:r>
          </a:p>
          <a:p>
            <a:pPr lvl="1">
              <a:buAutoNum type="arabicPeriod"/>
            </a:pPr>
            <a:r>
              <a:rPr b="1"/>
              <a:t>Trigger</a:t>
            </a:r>
            <a:r>
              <a:rPr/>
              <a:t> (Push/PR/Manual)</a:t>
            </a:r>
          </a:p>
          <a:p>
            <a:pPr lvl="1">
              <a:buAutoNum type="arabicPeriod"/>
            </a:pPr>
            <a:r>
              <a:rPr b="1"/>
              <a:t>Path Filter</a:t>
            </a:r>
            <a:r>
              <a:rPr/>
              <a:t> (tests/strix_ai/**)</a:t>
            </a:r>
          </a:p>
          <a:p>
            <a:pPr lvl="1">
              <a:buAutoNum type="arabicPeriod"/>
            </a:pPr>
            <a:r>
              <a:rPr b="1"/>
              <a:t>Select Runner</a:t>
            </a:r>
            <a:r>
              <a:rPr/>
              <a:t> (Strix GPU runner)</a:t>
            </a:r>
          </a:p>
          <a:p>
            <a:pPr lvl="1">
              <a:buAutoNum type="arabicPeriod"/>
            </a:pPr>
            <a:r>
              <a:rPr b="1"/>
              <a:t>Load Container</a:t>
            </a:r>
            <a:r>
              <a:rPr/>
              <a:t> (rocm/pytorch:latest)</a:t>
            </a:r>
          </a:p>
          <a:p>
            <a:pPr lvl="1">
              <a:buAutoNum type="arabicPeriod"/>
            </a:pPr>
            <a:r>
              <a:rPr b="1"/>
              <a:t>Setup &amp; Verify</a:t>
            </a:r>
            <a:r>
              <a:rPr/>
              <a:t> (ROCm, PyTorch, GPU)</a:t>
            </a:r>
          </a:p>
          <a:p>
            <a:pPr lvl="1">
              <a:buAutoNum type="arabicPeriod"/>
            </a:pPr>
            <a:r>
              <a:rPr b="1"/>
              <a:t>Run Tests</a:t>
            </a:r>
            <a:r>
              <a:rPr/>
              <a:t> (6 categories in sequence)</a:t>
            </a:r>
          </a:p>
          <a:p>
            <a:pPr lvl="1">
              <a:buAutoNum type="arabicPeriod"/>
            </a:pPr>
            <a:r>
              <a:rPr b="1"/>
              <a:t>Display Results</a:t>
            </a:r>
            <a:r>
              <a:rPr/>
              <a:t> (XML in logs)</a:t>
            </a:r>
          </a:p>
          <a:p>
            <a:pPr lvl="1">
              <a:buAutoNum type="arabicPeriod"/>
            </a:pPr>
            <a:r>
              <a:rPr b="1"/>
              <a:t>Archive</a:t>
            </a:r>
            <a:r>
              <a:rPr/>
              <a:t> (30-day artifacts)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Smart Triggering</a:t>
            </a:r>
          </a:p>
          <a:p>
            <a:pPr lvl="0" marL="0" indent="0">
              <a:buNone/>
            </a:pPr>
            <a:r>
              <a:rPr b="1"/>
              <a:t>Path-Filtered Triggers:</a:t>
            </a:r>
          </a:p>
          <a:p>
            <a:pPr lvl="1"/>
            <a:r>
              <a:rPr/>
              <a:t>Only runs when Strix files change</a:t>
            </a:r>
          </a:p>
          <a:p>
            <a:pPr lvl="1"/>
            <a:r>
              <a:rPr>
                <a:latin typeface="Courier"/>
              </a:rPr>
              <a:t>tests/strix_ai/**</a:t>
            </a:r>
          </a:p>
          <a:p>
            <a:pPr lvl="1"/>
            <a:r>
              <a:rPr>
                <a:latin typeface="Courier"/>
              </a:rPr>
              <a:t>.github/workflows/strix_ai*.yml</a:t>
            </a:r>
          </a:p>
          <a:p>
            <a:pPr lvl="0" marL="0" indent="0">
              <a:buNone/>
            </a:pPr>
            <a:r>
              <a:rPr b="1"/>
              <a:t>Branch-Aware:</a:t>
            </a:r>
          </a:p>
          <a:p>
            <a:pPr lvl="1"/>
            <a:r>
              <a:rPr/>
              <a:t>Feature branches: </a:t>
            </a:r>
            <a:r>
              <a:rPr>
                <a:latin typeface="Courier"/>
              </a:rPr>
              <a:t>users/*/strix_*</a:t>
            </a:r>
          </a:p>
          <a:p>
            <a:pPr lvl="1"/>
            <a:r>
              <a:rPr/>
              <a:t>Main integration: </a:t>
            </a:r>
            <a:r>
              <a:rPr>
                <a:latin typeface="Courier"/>
              </a:rPr>
              <a:t>main</a:t>
            </a:r>
            <a:r>
              <a:rPr/>
              <a:t>, </a:t>
            </a:r>
            <a:r>
              <a:rPr>
                <a:latin typeface="Courier"/>
              </a:rPr>
              <a:t>develop</a:t>
            </a:r>
          </a:p>
          <a:p>
            <a:pPr lvl="0" marL="0" indent="0">
              <a:buNone/>
            </a:pPr>
            <a:r>
              <a:rPr b="1"/>
              <a:t>Manual Override:</a:t>
            </a:r>
          </a:p>
          <a:p>
            <a:pPr lvl="1"/>
            <a:r>
              <a:rPr/>
              <a:t>Full parameter control</a:t>
            </a:r>
          </a:p>
          <a:p>
            <a:pPr lvl="1"/>
            <a:r>
              <a:rPr/>
              <a:t>Select: category, platform, test_type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Environment Configuration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env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AMDGPU_FAMILIES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gfx1151</a:t>
            </a:r>
            <a:r>
              <a:rPr i="1">
                <a:solidFill>
                  <a:srgbClr val="60A0B0"/>
                </a:solidFill>
                <a:latin typeface="Courier"/>
              </a:rPr>
              <a:t>    # GPU architecture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TEST_CATEGORY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all</a:t>
            </a:r>
            <a:r>
              <a:rPr i="1">
                <a:solidFill>
                  <a:srgbClr val="60A0B0"/>
                </a:solidFill>
                <a:latin typeface="Courier"/>
              </a:rPr>
              <a:t>           # Which tests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PLATFORM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linux</a:t>
            </a:r>
            <a:r>
              <a:rPr i="1">
                <a:solidFill>
                  <a:srgbClr val="60A0B0"/>
                </a:solidFill>
                <a:latin typeface="Courier"/>
              </a:rPr>
              <a:t>              # linux or windows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PYTHONUNBUFFERED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i="1">
                <a:solidFill>
                  <a:srgbClr val="60A0B0"/>
                </a:solidFill>
                <a:latin typeface="Courier"/>
              </a:rPr>
              <a:t>          # Real-time output</a:t>
            </a:r>
          </a:p>
          <a:p>
            <a:pPr lvl="0" marL="0" indent="0">
              <a:buNone/>
            </a:pPr>
            <a:r>
              <a:rPr b="1"/>
              <a:t>Test Execution:</a:t>
            </a:r>
          </a:p>
          <a:p>
            <a:pPr lvl="1"/>
            <a:r>
              <a:rPr/>
              <a:t>Sequential by default</a:t>
            </a:r>
          </a:p>
          <a:p>
            <a:pPr lvl="1"/>
            <a:r>
              <a:rPr/>
              <a:t>Fail-safe (</a:t>
            </a:r>
            <a:r>
              <a:rPr>
                <a:latin typeface="Courier"/>
              </a:rPr>
              <a:t>|| exit 0</a:t>
            </a:r>
            <a:r>
              <a:rPr/>
              <a:t>)</a:t>
            </a:r>
          </a:p>
          <a:p>
            <a:pPr lvl="1"/>
            <a:r>
              <a:rPr/>
              <a:t>Environment isolation per test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6.</a:t>
            </a:r>
            <a:r>
              <a:rPr/>
              <a:t> </a:t>
            </a:r>
            <a:r>
              <a:rPr/>
              <a:t>Design</a:t>
            </a:r>
            <a:r>
              <a:rPr/>
              <a:t> </a:t>
            </a:r>
            <a:r>
              <a:rPr/>
              <a:t>Decisions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Container vs Native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Container</a:t>
                      </a:r>
                      <a:r>
                        <a:rPr/>
                        <a:t> </a:t>
                      </a:r>
                      <a:r>
                        <a:rPr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Setup</a:t>
                      </a:r>
                      <a:r>
                        <a:rPr b="1"/>
                        <a:t> </a:t>
                      </a:r>
                      <a:r>
                        <a:rPr b="1"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30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  <a:r>
                        <a:rPr/>
                        <a:t> </a:t>
                      </a:r>
                      <a:r>
                        <a:rPr/>
                        <a:t>minutes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Reproducibility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Portability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ROCm</a:t>
                      </a:r>
                      <a:r>
                        <a:rPr b="1"/>
                        <a:t> </a:t>
                      </a: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Easy</a:t>
                      </a:r>
                      <a:r>
                        <a:rPr/>
                        <a:t> </a:t>
                      </a:r>
                      <a:r>
                        <a:rPr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Decision: Use Container</a:t>
            </a:r>
            <a:r>
              <a:rPr/>
              <a:t> ✅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Test Organization</a:t>
            </a:r>
          </a:p>
          <a:p>
            <a:pPr lvl="0" marL="0" indent="0">
              <a:buNone/>
            </a:pPr>
            <a:r>
              <a:rPr b="1"/>
              <a:t>Decision: Category-Based Structure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Why:</a:t>
            </a:r>
          </a:p>
          <a:p>
            <a:pPr lvl="1"/>
            <a:r>
              <a:rPr/>
              <a:t>Clear separation of concerns</a:t>
            </a:r>
          </a:p>
          <a:p>
            <a:pPr lvl="1"/>
            <a:r>
              <a:rPr/>
              <a:t>Easy to run specific workloads</a:t>
            </a:r>
          </a:p>
          <a:p>
            <a:pPr lvl="1"/>
            <a:r>
              <a:rPr/>
              <a:t>Parallel execution friendly</a:t>
            </a:r>
          </a:p>
          <a:p>
            <a:pPr lvl="1"/>
            <a:r>
              <a:rPr/>
              <a:t>Matches AI/ML domain structure</a:t>
            </a:r>
          </a:p>
          <a:p>
            <a:pPr lvl="1"/>
            <a:r>
              <a:rPr/>
              <a:t>Scalable for new categories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Metrics Format</a:t>
            </a:r>
          </a:p>
          <a:p>
            <a:pPr lvl="0" marL="0" indent="0">
              <a:buNone/>
            </a:pPr>
            <a:r>
              <a:rPr b="1"/>
              <a:t>Decision: JUnit XML + Custom Properties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Why:</a:t>
            </a:r>
          </a:p>
          <a:p>
            <a:pPr lvl="1"/>
            <a:r>
              <a:rPr/>
              <a:t>Standard format, wide tool support</a:t>
            </a:r>
          </a:p>
          <a:p>
            <a:pPr lvl="1"/>
            <a:r>
              <a:rPr/>
              <a:t>CI/CD integration built-in</a:t>
            </a:r>
          </a:p>
          <a:p>
            <a:pPr lvl="1"/>
            <a:r>
              <a:rPr/>
              <a:t>No external database needed</a:t>
            </a:r>
          </a:p>
          <a:p>
            <a:pPr lvl="1"/>
            <a:r>
              <a:rPr/>
              <a:t>Human-readable in logs</a:t>
            </a:r>
          </a:p>
          <a:p>
            <a:pPr lvl="1"/>
            <a:r>
              <a:rPr/>
              <a:t>Easy parsing for dashboards</a:t>
            </a:r>
          </a:p>
          <a:p>
            <a:pPr lvl="1"/>
            <a:r>
              <a:rPr/>
              <a:t>Historical tracking via artifacts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Results Display</a:t>
            </a:r>
          </a:p>
          <a:p>
            <a:pPr lvl="0" marL="0" indent="0">
              <a:buNone/>
            </a:pPr>
            <a:r>
              <a:rPr b="1"/>
              <a:t>Decision: Inline XML + Artifacts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Why:</a:t>
            </a:r>
          </a:p>
          <a:p>
            <a:pPr lvl="1"/>
            <a:r>
              <a:rPr b="1"/>
              <a:t>Immediate visibility</a:t>
            </a:r>
            <a:r>
              <a:rPr/>
              <a:t> - No download needed</a:t>
            </a:r>
          </a:p>
          <a:p>
            <a:pPr lvl="1"/>
            <a:r>
              <a:rPr b="1"/>
              <a:t>Historical tracking</a:t>
            </a:r>
            <a:r>
              <a:rPr/>
              <a:t> - 30-day retention</a:t>
            </a:r>
          </a:p>
          <a:p>
            <a:pPr lvl="1"/>
            <a:r>
              <a:rPr b="1"/>
              <a:t>Easy debugging</a:t>
            </a:r>
            <a:r>
              <a:rPr/>
              <a:t> - Click and read</a:t>
            </a:r>
          </a:p>
          <a:p>
            <a:pPr lvl="1"/>
            <a:r>
              <a:rPr b="1"/>
              <a:t>Copy/paste friendly</a:t>
            </a:r>
            <a:r>
              <a:rPr/>
              <a:t> - Direct from logs</a:t>
            </a:r>
          </a:p>
          <a:p>
            <a:pPr lvl="1"/>
            <a:r>
              <a:rPr b="1"/>
              <a:t>Dual benefit</a:t>
            </a:r>
            <a:r>
              <a:rPr/>
              <a:t> - Quick view + archive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7.</a:t>
            </a:r>
            <a:r>
              <a:rPr/>
              <a:t> </a:t>
            </a:r>
            <a:r>
              <a:rPr/>
              <a:t>Client</a:t>
            </a:r>
            <a:r>
              <a:rPr/>
              <a:t> </a:t>
            </a:r>
            <a:r>
              <a:rPr/>
              <a:t>Benefits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Technical Benefits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🚀 Automated Validation</a:t>
            </a:r>
          </a:p>
          <a:p>
            <a:pPr lvl="1"/>
            <a:r>
              <a:rPr/>
              <a:t>Every code change validated</a:t>
            </a:r>
          </a:p>
          <a:p>
            <a:pPr lvl="1"/>
            <a:r>
              <a:rPr/>
              <a:t>Catch regressions early</a:t>
            </a:r>
          </a:p>
          <a:p>
            <a:pPr lvl="1"/>
            <a:r>
              <a:rPr/>
              <a:t>Continuous quality assurance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📊 Performance Tracking</a:t>
            </a:r>
          </a:p>
          <a:p>
            <a:pPr lvl="1"/>
            <a:r>
              <a:rPr/>
              <a:t>Historical metrics &amp; trends</a:t>
            </a:r>
          </a:p>
          <a:p>
            <a:pPr lvl="1"/>
            <a:r>
              <a:rPr/>
              <a:t>Compare gfx1150 vs gfx1151</a:t>
            </a:r>
          </a:p>
          <a:p>
            <a:pPr lvl="1"/>
            <a:r>
              <a:rPr/>
              <a:t>Identify optimization opportunities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Technical Benefits (cont.)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✅ Comprehensive Coverage</a:t>
            </a:r>
          </a:p>
          <a:p>
            <a:pPr lvl="1"/>
            <a:r>
              <a:rPr/>
              <a:t>All major AI/ML workloads</a:t>
            </a:r>
          </a:p>
          <a:p>
            <a:pPr lvl="1"/>
            <a:r>
              <a:rPr/>
              <a:t>Edge AI scenarios validated</a:t>
            </a:r>
          </a:p>
          <a:p>
            <a:pPr lvl="1"/>
            <a:r>
              <a:rPr/>
              <a:t>Multiple model architectures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⚡ Fast Feedback</a:t>
            </a:r>
          </a:p>
          <a:p>
            <a:pPr lvl="1"/>
            <a:r>
              <a:rPr/>
              <a:t>Results in 2-3 minutes (quick)</a:t>
            </a:r>
          </a:p>
          <a:p>
            <a:pPr lvl="1"/>
            <a:r>
              <a:rPr/>
              <a:t>XML visible immediately</a:t>
            </a:r>
          </a:p>
          <a:p>
            <a:pPr lvl="1"/>
            <a:r>
              <a:rPr/>
              <a:t>No artifact download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Business Benefits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💰 Reduced Time-to-Market</a:t>
            </a:r>
          </a:p>
          <a:p>
            <a:pPr lvl="1"/>
            <a:r>
              <a:rPr/>
              <a:t>Automated testing accelerates development</a:t>
            </a:r>
          </a:p>
          <a:p>
            <a:pPr lvl="1"/>
            <a:r>
              <a:rPr/>
              <a:t>Early bug detection reduces costs</a:t>
            </a:r>
          </a:p>
          <a:p>
            <a:pPr lvl="1"/>
            <a:r>
              <a:rPr/>
              <a:t>Parallel testing improves efficiency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🏆 Quality Assurance</a:t>
            </a:r>
          </a:p>
          <a:p>
            <a:pPr lvl="1"/>
            <a:r>
              <a:rPr/>
              <a:t>Consistent testing methodology</a:t>
            </a:r>
          </a:p>
          <a:p>
            <a:pPr lvl="1"/>
            <a:r>
              <a:rPr/>
              <a:t>Reproducible results</a:t>
            </a:r>
          </a:p>
          <a:p>
            <a:pPr lvl="1"/>
            <a:r>
              <a:rPr/>
              <a:t>Hardware-specific validation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Business Benefits (cont.)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📈 Scalability</a:t>
            </a:r>
          </a:p>
          <a:p>
            <a:pPr lvl="1"/>
            <a:r>
              <a:rPr/>
              <a:t>Easy to add new test cases</a:t>
            </a:r>
          </a:p>
          <a:p>
            <a:pPr lvl="1"/>
            <a:r>
              <a:rPr/>
              <a:t>Support multiple platforms</a:t>
            </a:r>
          </a:p>
          <a:p>
            <a:pPr lvl="1"/>
            <a:r>
              <a:rPr/>
              <a:t>Extensible to new GPUs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👁️ Transparency</a:t>
            </a:r>
          </a:p>
          <a:p>
            <a:pPr lvl="1"/>
            <a:r>
              <a:rPr/>
              <a:t>Results visible in CI/CD logs</a:t>
            </a:r>
          </a:p>
          <a:p>
            <a:pPr lvl="1"/>
            <a:r>
              <a:rPr/>
              <a:t>Metrics tracked over time</a:t>
            </a:r>
          </a:p>
          <a:p>
            <a:pPr lvl="1"/>
            <a:r>
              <a:rPr/>
              <a:t>Clear pass/fail criteria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8.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Metrics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Metrics Captured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Per Test:</a:t>
            </a:r>
          </a:p>
          <a:p>
            <a:pPr lvl="1"/>
            <a:r>
              <a:rPr b="1"/>
              <a:t>Throughput</a:t>
            </a:r>
            <a:r>
              <a:rPr/>
              <a:t> (FPS)</a:t>
            </a:r>
          </a:p>
          <a:p>
            <a:pPr lvl="1"/>
            <a:r>
              <a:rPr b="1"/>
              <a:t>Latency</a:t>
            </a:r>
            <a:r>
              <a:rPr/>
              <a:t> (ms)</a:t>
            </a:r>
          </a:p>
          <a:p>
            <a:pPr lvl="1"/>
            <a:r>
              <a:rPr b="1"/>
              <a:t>Memory</a:t>
            </a:r>
            <a:r>
              <a:rPr/>
              <a:t> (MB)</a:t>
            </a:r>
          </a:p>
          <a:p>
            <a:pPr lvl="1"/>
            <a:r>
              <a:rPr b="1"/>
              <a:t>Confidence</a:t>
            </a:r>
            <a:r>
              <a:rPr/>
              <a:t> (0-1)</a:t>
            </a:r>
          </a:p>
          <a:p>
            <a:pPr lvl="1"/>
            <a:r>
              <a:rPr b="1"/>
              <a:t>Accuracy</a:t>
            </a:r>
            <a:r>
              <a:rPr/>
              <a:t> (%)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Aggregated:</a:t>
            </a:r>
          </a:p>
          <a:p>
            <a:pPr lvl="1"/>
            <a:r>
              <a:rPr b="1"/>
              <a:t>Test duration</a:t>
            </a:r>
          </a:p>
          <a:p>
            <a:pPr lvl="1"/>
            <a:r>
              <a:rPr b="1"/>
              <a:t>Pass/fail counts</a:t>
            </a:r>
          </a:p>
          <a:p>
            <a:pPr lvl="1"/>
            <a:r>
              <a:rPr b="1"/>
              <a:t>GPU family</a:t>
            </a:r>
          </a:p>
          <a:p>
            <a:pPr lvl="1"/>
            <a:r>
              <a:rPr b="1"/>
              <a:t>Platform info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Real Performance Data</a:t>
            </a:r>
          </a:p>
          <a:p>
            <a:pPr lvl="0" marL="0" indent="0">
              <a:buNone/>
            </a:pPr>
            <a:r>
              <a:rPr b="1"/>
              <a:t>ViT-Base on Strix Halo (gfx1151):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"28.59"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"34.98"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"metric_iterations"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"100"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"metric_peak_memory_mb"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"415.29"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</a:p>
          <a:p>
            <a:pPr lvl="0" marL="0" indent="0">
              <a:buNone/>
            </a:pPr>
            <a:r>
              <a:rPr b="1"/>
              <a:t>Interpretation:</a:t>
            </a:r>
            <a:r>
              <a:rPr/>
              <a:t> 28.59 FPS with 415 MB memory usage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9.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Roadmap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Short-Term (3 Months)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Windows Testing</a:t>
            </a:r>
          </a:p>
          <a:p>
            <a:pPr lvl="1"/>
            <a:r>
              <a:rPr/>
              <a:t>DirectML integration</a:t>
            </a:r>
          </a:p>
          <a:p>
            <a:pPr lvl="1"/>
            <a:r>
              <a:rPr/>
              <a:t>WinML API validation</a:t>
            </a:r>
          </a:p>
          <a:p>
            <a:pPr lvl="1"/>
            <a:r>
              <a:rPr/>
              <a:t>Copilot+ specific tests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Extended Models</a:t>
            </a:r>
          </a:p>
          <a:p>
            <a:pPr lvl="1"/>
            <a:r>
              <a:rPr/>
              <a:t>Stable Diffusion</a:t>
            </a:r>
          </a:p>
          <a:p>
            <a:pPr lvl="1"/>
            <a:r>
              <a:rPr/>
              <a:t>Whisper (audio AI)</a:t>
            </a:r>
          </a:p>
          <a:p>
            <a:pPr lvl="1"/>
            <a:r>
              <a:rPr/>
              <a:t>LLaMA/Llama2 (LLMs)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Performance Baselines</a:t>
            </a:r>
          </a:p>
          <a:p>
            <a:pPr lvl="1"/>
            <a:r>
              <a:rPr/>
              <a:t>Target FPS per model</a:t>
            </a:r>
          </a:p>
          <a:p>
            <a:pPr lvl="1"/>
            <a:r>
              <a:rPr/>
              <a:t>Regression detection</a:t>
            </a:r>
          </a:p>
          <a:p>
            <a:pPr lvl="1"/>
            <a:r>
              <a:rPr/>
              <a:t>Automated alerts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Medium-Term (6 Months)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Dashboard Integration</a:t>
            </a:r>
          </a:p>
          <a:p>
            <a:pPr lvl="1"/>
            <a:r>
              <a:rPr/>
              <a:t>Web dashboard for metrics</a:t>
            </a:r>
          </a:p>
          <a:p>
            <a:pPr lvl="1"/>
            <a:r>
              <a:rPr/>
              <a:t>Trend analysis over time</a:t>
            </a:r>
          </a:p>
          <a:p>
            <a:pPr lvl="1"/>
            <a:r>
              <a:rPr/>
              <a:t>GPU family comparisons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Power Efficiency</a:t>
            </a:r>
          </a:p>
          <a:p>
            <a:pPr lvl="1"/>
            <a:r>
              <a:rPr/>
              <a:t>Power consumption metrics</a:t>
            </a:r>
          </a:p>
          <a:p>
            <a:pPr lvl="1"/>
            <a:r>
              <a:rPr/>
              <a:t>Performance-per-watt</a:t>
            </a:r>
          </a:p>
          <a:p>
            <a:pPr lvl="1"/>
            <a:r>
              <a:rPr/>
              <a:t>Battery life impact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Multi-Platform Matrix</a:t>
            </a:r>
          </a:p>
          <a:p>
            <a:pPr lvl="1"/>
            <a:r>
              <a:rPr/>
              <a:t>Linux + Windows parallel</a:t>
            </a:r>
          </a:p>
          <a:p>
            <a:pPr lvl="1"/>
            <a:r>
              <a:rPr/>
              <a:t>gfx1150 + gfx1151 comparison</a:t>
            </a:r>
          </a:p>
          <a:p>
            <a:pPr lvl="1"/>
            <a:r>
              <a:rPr/>
              <a:t>Automated cross-platform validation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Long-Term (12 Months)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End-to-End Scenarios</a:t>
            </a:r>
          </a:p>
          <a:p>
            <a:pPr lvl="1"/>
            <a:r>
              <a:rPr/>
              <a:t>Real Copilot+ workflows</a:t>
            </a:r>
          </a:p>
          <a:p>
            <a:pPr lvl="1"/>
            <a:r>
              <a:rPr/>
              <a:t>User-facing application testing</a:t>
            </a:r>
          </a:p>
          <a:p>
            <a:pPr lvl="1"/>
            <a:r>
              <a:rPr/>
              <a:t>OEM validation integration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AI Model Zoo</a:t>
            </a:r>
          </a:p>
          <a:p>
            <a:pPr lvl="1"/>
            <a:r>
              <a:rPr/>
              <a:t>Pre-validated model repository</a:t>
            </a:r>
          </a:p>
          <a:p>
            <a:pPr lvl="1"/>
            <a:r>
              <a:rPr/>
              <a:t>Performance database</a:t>
            </a:r>
          </a:p>
          <a:p>
            <a:pPr lvl="1"/>
            <a:r>
              <a:rPr/>
              <a:t>Compatibility matrix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Heterogeneous Computing</a:t>
            </a:r>
          </a:p>
          <a:p>
            <a:pPr lvl="1"/>
            <a:r>
              <a:rPr/>
              <a:t>CPU+GPU hybrid workloads</a:t>
            </a:r>
          </a:p>
          <a:p>
            <a:pPr lvl="1"/>
            <a:r>
              <a:rPr/>
              <a:t>NPU integration (future Strix)</a:t>
            </a:r>
          </a:p>
          <a:p>
            <a:pPr lvl="1"/>
            <a:r>
              <a:rPr/>
              <a:t>Multi-GPU scenarios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10.</a:t>
            </a:r>
            <a:r>
              <a:rPr/>
              <a:t> </a:t>
            </a:r>
            <a:r>
              <a:rPr/>
              <a:t>Getting</a:t>
            </a:r>
            <a:r>
              <a:rPr/>
              <a:t> </a:t>
            </a:r>
            <a:r>
              <a:rPr/>
              <a:t>Started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For Developers</a:t>
            </a:r>
          </a:p>
          <a:p>
            <a:pPr lvl="0" marL="0" indent="0">
              <a:buNone/>
            </a:pPr>
            <a:r>
              <a:rPr b="1"/>
              <a:t>Run Tests Locally: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Verify Strix GPU</a:t>
            </a:r>
            <a:br/>
            <a:r>
              <a:rPr>
                <a:latin typeface="Courier"/>
              </a:rPr>
              <a:t>rocminfo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gfx115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Set environment</a:t>
            </a:r>
            <a:br/>
            <a:r>
              <a:rPr>
                <a:latin typeface="Courier"/>
              </a:rPr>
              <a:t>export </a:t>
            </a:r>
            <a:r>
              <a:rPr>
                <a:solidFill>
                  <a:srgbClr val="19177C"/>
                </a:solidFill>
                <a:latin typeface="Courier"/>
              </a:rPr>
              <a:t>AMDGPU_FAMILIES=</a:t>
            </a:r>
            <a:r>
              <a:rPr>
                <a:latin typeface="Courier"/>
              </a:rPr>
              <a:t>gfx1151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specific category</a:t>
            </a:r>
            <a:br/>
            <a:r>
              <a:rPr>
                <a:latin typeface="Courier"/>
              </a:rPr>
              <a:t>python3 -m pytest tests/strix_ai/vit/ -v -s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all tests</a:t>
            </a:r>
            <a:br/>
            <a:r>
              <a:rPr>
                <a:latin typeface="Courier"/>
              </a:rPr>
              <a:t>python3 -m pytest tests/strix_ai/ -v -s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For Reviewers</a:t>
            </a:r>
          </a:p>
          <a:p>
            <a:pPr lvl="0" marL="0" indent="0">
              <a:buNone/>
            </a:pPr>
            <a:r>
              <a:rPr b="1"/>
              <a:t>View Results in GitHub Actions:</a:t>
            </a:r>
          </a:p>
          <a:p>
            <a:pPr lvl="1">
              <a:buAutoNum type="arabicPeriod"/>
            </a:pPr>
            <a:r>
              <a:rPr/>
              <a:t>Navigate to Actions → Strix AI/ML Testing</a:t>
            </a:r>
          </a:p>
          <a:p>
            <a:pPr lvl="1">
              <a:buAutoNum type="arabicPeriod"/>
            </a:pPr>
            <a:r>
              <a:rPr/>
              <a:t>Click on workflow run</a:t>
            </a:r>
          </a:p>
          <a:p>
            <a:pPr lvl="1">
              <a:buAutoNum type="arabicPeriod"/>
            </a:pPr>
            <a:r>
              <a:rPr/>
              <a:t>Click “Strix AI Tests” job</a:t>
            </a:r>
          </a:p>
          <a:p>
            <a:pPr lvl="1">
              <a:buAutoNum type="arabicPeriod"/>
            </a:pPr>
            <a:r>
              <a:rPr/>
              <a:t>Expand “📊 Display Test Results XML”</a:t>
            </a:r>
          </a:p>
          <a:p>
            <a:pPr lvl="1">
              <a:buAutoNum type="arabicPeriod"/>
            </a:pPr>
            <a:r>
              <a:rPr/>
              <a:t>View XML with all metrics inline</a:t>
            </a:r>
          </a:p>
          <a:p>
            <a:pPr lvl="0" marL="0" indent="0">
              <a:buNone/>
            </a:pPr>
            <a:r>
              <a:rPr b="1"/>
              <a:t>No download needed!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Trigger Manual Run</a:t>
            </a:r>
          </a:p>
          <a:p>
            <a:pPr lvl="0" marL="0" indent="0">
              <a:buNone/>
            </a:pPr>
            <a:r>
              <a:rPr b="1"/>
              <a:t>Via GitHub UI:</a:t>
            </a:r>
          </a:p>
          <a:p>
            <a:pPr lvl="1">
              <a:buAutoNum type="arabicPeriod"/>
            </a:pPr>
            <a:r>
              <a:rPr/>
              <a:t>Actions → Strix AI/ML Testing</a:t>
            </a:r>
          </a:p>
          <a:p>
            <a:pPr lvl="1">
              <a:buAutoNum type="arabicPeriod"/>
            </a:pPr>
            <a:r>
              <a:rPr/>
              <a:t>“Run workflow” button</a:t>
            </a:r>
          </a:p>
          <a:p>
            <a:pPr lvl="1">
              <a:buAutoNum type="arabicPeriod"/>
            </a:pPr>
            <a:r>
              <a:rPr/>
              <a:t>Select parameters:</a:t>
            </a:r>
          </a:p>
          <a:p>
            <a:pPr lvl="2"/>
            <a:r>
              <a:rPr b="1"/>
              <a:t>Category</a:t>
            </a:r>
            <a:r>
              <a:rPr/>
              <a:t>: vit, vlm, cv, all</a:t>
            </a:r>
          </a:p>
          <a:p>
            <a:pPr lvl="2"/>
            <a:r>
              <a:rPr b="1"/>
              <a:t>Platform</a:t>
            </a:r>
            <a:r>
              <a:rPr/>
              <a:t>: linux, windows</a:t>
            </a:r>
          </a:p>
          <a:p>
            <a:pPr lvl="2"/>
            <a:r>
              <a:rPr b="1"/>
              <a:t>Test Type</a:t>
            </a:r>
            <a:r>
              <a:rPr/>
              <a:t>: quick, full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11.</a:t>
            </a:r>
            <a:r>
              <a:rPr/>
              <a:t> </a:t>
            </a:r>
            <a:r>
              <a:rPr/>
              <a:t>Summary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What We Delivered</a:t>
            </a:r>
          </a:p>
          <a:p>
            <a:pPr lvl="1"/>
            <a:r>
              <a:rPr/>
              <a:t>✅ </a:t>
            </a:r>
            <a:r>
              <a:rPr b="1"/>
              <a:t>Automated Testing</a:t>
            </a:r>
            <a:r>
              <a:rPr/>
              <a:t> on real Strix hardware</a:t>
            </a:r>
          </a:p>
          <a:p>
            <a:pPr lvl="1"/>
            <a:r>
              <a:rPr/>
              <a:t>✅ </a:t>
            </a:r>
            <a:r>
              <a:rPr b="1"/>
              <a:t>6 AI/ML Categories</a:t>
            </a:r>
            <a:r>
              <a:rPr/>
              <a:t> comprehensively covered</a:t>
            </a:r>
          </a:p>
          <a:p>
            <a:pPr lvl="1"/>
            <a:r>
              <a:rPr/>
              <a:t>✅ </a:t>
            </a:r>
            <a:r>
              <a:rPr b="1"/>
              <a:t>Performance Metrics</a:t>
            </a:r>
            <a:r>
              <a:rPr/>
              <a:t> captured in standard format</a:t>
            </a:r>
          </a:p>
          <a:p>
            <a:pPr lvl="1"/>
            <a:r>
              <a:rPr/>
              <a:t>✅ </a:t>
            </a:r>
            <a:r>
              <a:rPr b="1"/>
              <a:t>Inline Results</a:t>
            </a:r>
            <a:r>
              <a:rPr/>
              <a:t> - no download needed</a:t>
            </a:r>
          </a:p>
          <a:p>
            <a:pPr lvl="1"/>
            <a:r>
              <a:rPr/>
              <a:t>✅ </a:t>
            </a:r>
            <a:r>
              <a:rPr b="1"/>
              <a:t>CI/CD Integration</a:t>
            </a:r>
            <a:r>
              <a:rPr/>
              <a:t> - runs on every push</a:t>
            </a:r>
          </a:p>
          <a:p>
            <a:pPr lvl="1"/>
            <a:r>
              <a:rPr/>
              <a:t>✅ </a:t>
            </a:r>
            <a:r>
              <a:rPr b="1"/>
              <a:t>Production Ready</a:t>
            </a:r>
            <a:r>
              <a:rPr/>
              <a:t> - stable and scalable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Key Metrics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Test</a:t>
                      </a:r>
                      <a:r>
                        <a:rPr b="1"/>
                        <a:t> </a:t>
                      </a:r>
                      <a:r>
                        <a:rPr b="1"/>
                        <a:t>Categories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  <a:r>
                        <a:rPr/>
                        <a:t> </a:t>
                      </a:r>
                      <a:r>
                        <a:rPr/>
                        <a:t>(VLM,</a:t>
                      </a:r>
                      <a:r>
                        <a:rPr/>
                        <a:t> </a:t>
                      </a:r>
                      <a:r>
                        <a:rPr/>
                        <a:t>VLA,</a:t>
                      </a:r>
                      <a:r>
                        <a:rPr/>
                        <a:t> </a:t>
                      </a:r>
                      <a:r>
                        <a:rPr/>
                        <a:t>ViT,</a:t>
                      </a:r>
                      <a:r>
                        <a:rPr/>
                        <a:t> </a:t>
                      </a:r>
                      <a:r>
                        <a:rPr/>
                        <a:t>CV,</a:t>
                      </a:r>
                      <a:r>
                        <a:rPr/>
                        <a:t> </a:t>
                      </a:r>
                      <a:r>
                        <a:rPr/>
                        <a:t>Opt,</a:t>
                      </a:r>
                      <a:r>
                        <a:rPr/>
                        <a:t> </a:t>
                      </a:r>
                      <a:r>
                        <a:rPr/>
                        <a:t>Quick)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Test</a:t>
                      </a:r>
                      <a:r>
                        <a:rPr b="1"/>
                        <a:t> </a:t>
                      </a:r>
                      <a:r>
                        <a:rPr b="1"/>
                        <a:t>Execution</a:t>
                      </a:r>
                      <a:r>
                        <a:rPr b="1"/>
                        <a:t> </a:t>
                      </a:r>
                      <a:r>
                        <a:rPr b="1"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2-3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  <a:r>
                        <a:rPr/>
                        <a:t> </a:t>
                      </a:r>
                      <a:r>
                        <a:rPr/>
                        <a:t>(quick),</a:t>
                      </a:r>
                      <a:r>
                        <a:rPr/>
                        <a:t> </a:t>
                      </a:r>
                      <a:r>
                        <a:rPr/>
                        <a:t>15-20</a:t>
                      </a:r>
                      <a:r>
                        <a:rPr/>
                        <a:t> </a:t>
                      </a:r>
                      <a:r>
                        <a:rPr/>
                        <a:t>min</a:t>
                      </a:r>
                      <a:r>
                        <a:rPr/>
                        <a:t> </a:t>
                      </a:r>
                      <a:r>
                        <a:rPr/>
                        <a:t>(full)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Metrics</a:t>
                      </a:r>
                      <a:r>
                        <a:rPr b="1"/>
                        <a:t> </a:t>
                      </a:r>
                      <a:r>
                        <a:rPr b="1"/>
                        <a:t>per</a:t>
                      </a:r>
                      <a:r>
                        <a:rPr b="1"/>
                        <a:t> </a:t>
                      </a:r>
                      <a:r>
                        <a:rPr b="1"/>
                        <a:t>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4-6</a:t>
                      </a:r>
                      <a:r>
                        <a:rPr/>
                        <a:t> </a:t>
                      </a:r>
                      <a:r>
                        <a:rPr/>
                        <a:t>custom</a:t>
                      </a:r>
                      <a:r>
                        <a:rPr/>
                        <a:t> </a:t>
                      </a:r>
                      <a:r>
                        <a:rPr/>
                        <a:t>properties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GPU</a:t>
                      </a:r>
                      <a:r>
                        <a:rPr b="1"/>
                        <a:t> </a:t>
                      </a:r>
                      <a:r>
                        <a:rPr b="1"/>
                        <a:t>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gfx1150,</a:t>
                      </a:r>
                      <a:r>
                        <a:rPr/>
                        <a:t> </a:t>
                      </a:r>
                      <a:r>
                        <a:rPr/>
                        <a:t>gfx1151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Platforms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Linux,</a:t>
                      </a:r>
                      <a:r>
                        <a:rPr/>
                        <a:t> </a:t>
                      </a:r>
                      <a:r>
                        <a:rPr/>
                        <a:t>Windows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Artifact</a:t>
                      </a:r>
                      <a:r>
                        <a:rPr b="1"/>
                        <a:t> </a:t>
                      </a:r>
                      <a:r>
                        <a:rPr b="1"/>
                        <a:t>Retention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30</a:t>
                      </a:r>
                      <a:r>
                        <a:rPr/>
                        <a:t> </a:t>
                      </a:r>
                      <a:r>
                        <a:rPr/>
                        <a:t>days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Success Criteria Met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Automated Validation</a:t>
            </a:r>
            <a:r>
              <a:rPr/>
              <a:t> - Every commit tested ✅ </a:t>
            </a:r>
            <a:r>
              <a:rPr b="1"/>
              <a:t>Real Hardware</a:t>
            </a:r>
            <a:r>
              <a:rPr/>
              <a:t> - Strix Point &amp; Halo ✅ </a:t>
            </a:r>
            <a:r>
              <a:rPr b="1"/>
              <a:t>Comprehensive</a:t>
            </a:r>
            <a:r>
              <a:rPr/>
              <a:t> - All key AI/ML workloads ✅ </a:t>
            </a:r>
            <a:r>
              <a:rPr b="1"/>
              <a:t>Fast Feedback</a:t>
            </a:r>
            <a:r>
              <a:rPr/>
              <a:t> - Results in minutes ✅ </a:t>
            </a:r>
            <a:r>
              <a:rPr b="1"/>
              <a:t>Transparent</a:t>
            </a:r>
            <a:r>
              <a:rPr/>
              <a:t> - Metrics visible in logs ✅ </a:t>
            </a:r>
            <a:r>
              <a:rPr b="1"/>
              <a:t>Scalable</a:t>
            </a:r>
            <a:r>
              <a:rPr/>
              <a:t> - Easy to extend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Documentation:</a:t>
            </a:r>
            <a:r>
              <a:rPr/>
              <a:t> - Test Plan: </a:t>
            </a:r>
            <a:r>
              <a:rPr>
                <a:latin typeface="Courier"/>
              </a:rPr>
              <a:t>docs/development/STRIX_AI_ML_TEST_PLAN.md</a:t>
            </a:r>
            <a:r>
              <a:rPr/>
              <a:t> - Architecture: </a:t>
            </a:r>
            <a:r>
              <a:rPr>
                <a:latin typeface="Courier"/>
              </a:rPr>
              <a:t>docs/development/STRIX_CLIENT_ARCHITECTURE.md</a:t>
            </a:r>
            <a:r>
              <a:rPr/>
              <a:t> - Quick Start: </a:t>
            </a:r>
            <a:r>
              <a:rPr>
                <a:latin typeface="Courier"/>
              </a:rPr>
              <a:t>docs/development/STRIX_AI_QUICK_START.md</a:t>
            </a:r>
          </a:p>
          <a:p>
            <a:pPr lvl="0" marL="0" indent="0">
              <a:buNone/>
            </a:pPr>
            <a:r>
              <a:rPr b="1"/>
              <a:t>Repository:</a:t>
            </a:r>
            <a:r>
              <a:rPr/>
              <a:t> - Branch: </a:t>
            </a:r>
            <a:r>
              <a:rPr>
                <a:latin typeface="Courier"/>
              </a:rPr>
              <a:t>users/rponnuru/strix_poc</a:t>
            </a:r>
            <a:r>
              <a:rPr/>
              <a:t> - Workflows: </a:t>
            </a:r>
            <a:r>
              <a:rPr>
                <a:latin typeface="Courier"/>
              </a:rPr>
              <a:t>.github/workflows/strix_ai_*.yml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Strix AI/ML Integration</a:t>
            </a:r>
          </a:p>
          <a:p>
            <a:pPr lvl="0" marL="0" indent="0">
              <a:buNone/>
            </a:pPr>
            <a:r>
              <a:rPr i="1"/>
              <a:t>Production-Ready AI/ML Testing for AMD Strix GPUs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Strix AI/ML Integration</dc:title>
  <dc:creator>AMD ROCm Team</dc:creator>
  <cp:keywords/>
  <dcterms:created xsi:type="dcterms:W3CDTF">2025-12-12T19:30:23Z</dcterms:created>
  <dcterms:modified xsi:type="dcterms:W3CDTF">2025-12-12T19:30:23Z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December 2025</vt:lpwstr>
  </property>
  <property fmtid="{D5CDD505-2E9C-101B-9397-08002B2CF9AE}" pid="3" name="subtitle">
    <vt:lpwstr>Architecture &amp; Integration Overview</vt:lpwstr>
  </property>
</Properties>
</file>